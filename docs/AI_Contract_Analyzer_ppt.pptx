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Inter Bold" panose="020B0604020202020204" charset="0"/>
      <p:regular r:id="rId13"/>
    </p:embeddedFont>
    <p:embeddedFont>
      <p:font typeface="Inter Light" panose="020B0604020202020204" charset="0"/>
      <p:regular r:id="rId14"/>
    </p:embeddedFont>
    <p:embeddedFont>
      <p:font typeface="Montserrat Light" panose="00000400000000000000" pitchFamily="2" charset="0"/>
      <p:regular r:id="rId15"/>
    </p:embeddedFont>
    <p:embeddedFont>
      <p:font typeface="Montserrat Medium" panose="00000600000000000000" pitchFamily="2" charset="0"/>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1" d="100"/>
          <a:sy n="51" d="100"/>
        </p:scale>
        <p:origin x="278"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4849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4.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1517253"/>
            <a:ext cx="6296860" cy="1550194"/>
          </a:xfrm>
          <a:prstGeom prst="rect">
            <a:avLst/>
          </a:prstGeom>
          <a:noFill/>
          <a:ln/>
        </p:spPr>
        <p:txBody>
          <a:bodyPr wrap="square" lIns="0" tIns="0" rIns="0" bIns="0" rtlCol="0" anchor="t">
            <a:normAutofit/>
          </a:bodyPr>
          <a:lstStyle/>
          <a:p>
            <a:pPr marL="0" indent="0" algn="l">
              <a:lnSpc>
                <a:spcPct val="104000"/>
              </a:lnSpc>
              <a:buNone/>
            </a:pPr>
            <a:r>
              <a:rPr lang="en-US" sz="3250" dirty="0">
                <a:solidFill>
                  <a:srgbClr val="74767D"/>
                </a:solidFill>
                <a:latin typeface="Montserrat Medium" pitchFamily="34" charset="0"/>
                <a:ea typeface="Montserrat Medium" pitchFamily="34" charset="-122"/>
                <a:cs typeface="Montserrat Medium" pitchFamily="34" charset="-120"/>
              </a:rPr>
              <a:t>AI-Based Contract Clause Classification &amp; Risk Detection System</a:t>
            </a:r>
            <a:endParaRPr lang="en-US" sz="3250" dirty="0"/>
          </a:p>
        </p:txBody>
      </p:sp>
      <p:sp>
        <p:nvSpPr>
          <p:cNvPr id="4" name="Text 1"/>
          <p:cNvSpPr/>
          <p:nvPr/>
        </p:nvSpPr>
        <p:spPr>
          <a:xfrm>
            <a:off x="5233360" y="3315494"/>
            <a:ext cx="6296860" cy="1587698"/>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D3E44"/>
                </a:solidFill>
                <a:latin typeface="Inter Light" pitchFamily="34" charset="0"/>
                <a:ea typeface="Inter Light" pitchFamily="34" charset="-122"/>
                <a:cs typeface="Inter Light" pitchFamily="34" charset="-120"/>
              </a:rPr>
              <a:t>Contracts contain numerous legal clauses that require careful review before signing. This project presents an Artificial Intelligence-based system that automatically identifies and classifies contract clauses while detecting potentially risky legal terms. By combining Natural Language Processing (NLP) with Machine Learning, the system reduces manual effort, improves accuracy, and provides faster contract analysis for legal professionals and organizations.</a:t>
            </a:r>
            <a:endParaRPr lang="en-US" sz="1300" dirty="0"/>
          </a:p>
        </p:txBody>
      </p:sp>
      <p:sp>
        <p:nvSpPr>
          <p:cNvPr id="5" name="Shape 2"/>
          <p:cNvSpPr/>
          <p:nvPr/>
        </p:nvSpPr>
        <p:spPr>
          <a:xfrm>
            <a:off x="8583050" y="6078273"/>
            <a:ext cx="2855444" cy="251420"/>
          </a:xfrm>
          <a:prstGeom prst="roundRect">
            <a:avLst>
              <a:gd name="adj" fmla="val 47364"/>
            </a:avLst>
          </a:prstGeom>
          <a:solidFill>
            <a:srgbClr val="DFE1EC"/>
          </a:solidFill>
          <a:ln/>
        </p:spPr>
        <p:txBody>
          <a:bodyPr/>
          <a:lstStyle/>
          <a:p>
            <a:endParaRPr lang="en-IN" dirty="0"/>
          </a:p>
        </p:txBody>
      </p:sp>
      <p:sp>
        <p:nvSpPr>
          <p:cNvPr id="6" name="Text 3"/>
          <p:cNvSpPr/>
          <p:nvPr/>
        </p:nvSpPr>
        <p:spPr>
          <a:xfrm>
            <a:off x="8738251" y="6127882"/>
            <a:ext cx="3266596" cy="152202"/>
          </a:xfrm>
          <a:prstGeom prst="rect">
            <a:avLst/>
          </a:prstGeom>
          <a:noFill/>
          <a:ln/>
        </p:spPr>
        <p:txBody>
          <a:bodyPr wrap="none" lIns="0" tIns="0" rIns="0" bIns="0" rtlCol="0" anchor="t"/>
          <a:lstStyle/>
          <a:p>
            <a:pPr marL="0" indent="0" algn="l">
              <a:lnSpc>
                <a:spcPct val="96000"/>
              </a:lnSpc>
              <a:buNone/>
            </a:pPr>
            <a:r>
              <a:rPr lang="en-US" sz="1000" dirty="0">
                <a:solidFill>
                  <a:srgbClr val="3D3E44"/>
                </a:solidFill>
                <a:latin typeface="Inter Light" pitchFamily="34" charset="0"/>
                <a:ea typeface="Inter Light" pitchFamily="34" charset="-122"/>
                <a:cs typeface="Inter Light" pitchFamily="34" charset="-120"/>
              </a:rPr>
              <a:t>PRESENTED BY: DEVIYANSH RAJPUROHIT</a:t>
            </a:r>
            <a:endParaRPr lang="en-US" sz="1000" dirty="0"/>
          </a:p>
        </p:txBody>
      </p:sp>
      <p:pic>
        <p:nvPicPr>
          <p:cNvPr id="8" name="Picture 7">
            <a:extLst>
              <a:ext uri="{FF2B5EF4-FFF2-40B4-BE49-F238E27FC236}">
                <a16:creationId xmlns:a16="http://schemas.microsoft.com/office/drawing/2014/main" id="{5D203A3E-9BC1-1859-7DE5-3C0FE874E7BE}"/>
              </a:ext>
            </a:extLst>
          </p:cNvPr>
          <p:cNvPicPr>
            <a:picLocks noChangeAspect="1"/>
          </p:cNvPicPr>
          <p:nvPr/>
        </p:nvPicPr>
        <p:blipFill>
          <a:blip r:embed="rId4"/>
          <a:stretch>
            <a:fillRect/>
          </a:stretch>
        </p:blipFill>
        <p:spPr>
          <a:xfrm>
            <a:off x="11028784" y="6491743"/>
            <a:ext cx="1163216" cy="3429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238845"/>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74767D"/>
                </a:solidFill>
                <a:latin typeface="Montserrat Medium" pitchFamily="34" charset="0"/>
                <a:ea typeface="Montserrat Medium" pitchFamily="34" charset="-122"/>
                <a:cs typeface="Montserrat Medium" pitchFamily="34" charset="-120"/>
              </a:rPr>
              <a:t>The Problem with Manual Contract Review</a:t>
            </a:r>
            <a:endParaRPr lang="en-US" sz="3250" dirty="0"/>
          </a:p>
        </p:txBody>
      </p:sp>
      <p:sp>
        <p:nvSpPr>
          <p:cNvPr id="3" name="Shape 1"/>
          <p:cNvSpPr/>
          <p:nvPr/>
        </p:nvSpPr>
        <p:spPr>
          <a:xfrm>
            <a:off x="542415" y="2003723"/>
            <a:ext cx="5470785" cy="3615432"/>
          </a:xfrm>
          <a:prstGeom prst="roundRect">
            <a:avLst>
              <a:gd name="adj" fmla="val 6587"/>
            </a:avLst>
          </a:prstGeom>
          <a:solidFill>
            <a:srgbClr val="C6C9DC"/>
          </a:solidFill>
          <a:ln/>
        </p:spPr>
      </p:sp>
      <p:sp>
        <p:nvSpPr>
          <p:cNvPr id="4" name="Text 2"/>
          <p:cNvSpPr/>
          <p:nvPr/>
        </p:nvSpPr>
        <p:spPr>
          <a:xfrm>
            <a:off x="707710" y="2198342"/>
            <a:ext cx="5140196" cy="258465"/>
          </a:xfrm>
          <a:prstGeom prst="rect">
            <a:avLst/>
          </a:prstGeom>
          <a:noFill/>
          <a:ln/>
        </p:spPr>
        <p:txBody>
          <a:bodyPr wrap="none" lIns="0" tIns="0" rIns="0" bIns="0" rtlCol="0" anchor="t"/>
          <a:lstStyle/>
          <a:p>
            <a:pPr marL="0" indent="0" algn="l">
              <a:lnSpc>
                <a:spcPct val="104000"/>
              </a:lnSpc>
              <a:buNone/>
            </a:pPr>
            <a:r>
              <a:rPr lang="en-US" sz="1600" dirty="0">
                <a:solidFill>
                  <a:srgbClr val="000000"/>
                </a:solidFill>
                <a:latin typeface="Montserrat Medium" pitchFamily="34" charset="0"/>
                <a:ea typeface="Montserrat Medium" pitchFamily="34" charset="-122"/>
                <a:cs typeface="Montserrat Medium" pitchFamily="34" charset="-120"/>
              </a:rPr>
              <a:t>Existing Challenges</a:t>
            </a:r>
            <a:endParaRPr lang="en-US" sz="1600" dirty="0"/>
          </a:p>
        </p:txBody>
      </p:sp>
      <p:sp>
        <p:nvSpPr>
          <p:cNvPr id="5" name="Text 3"/>
          <p:cNvSpPr/>
          <p:nvPr/>
        </p:nvSpPr>
        <p:spPr>
          <a:xfrm>
            <a:off x="707709" y="2910721"/>
            <a:ext cx="5140196"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D3E44"/>
                </a:solidFill>
                <a:latin typeface="Inter Light" pitchFamily="34" charset="0"/>
                <a:ea typeface="Inter Light" pitchFamily="34" charset="-122"/>
                <a:cs typeface="Inter Light" pitchFamily="34" charset="-120"/>
              </a:rPr>
              <a:t>Legal contracts are often lengthy and written in complex legal language. Manual review demands significant time and specialized expertise. Human reviewers frequently overlook critical clauses related to liability, confidentiality, payment, or termination — exposing organizations to financial and legal risk.</a:t>
            </a:r>
            <a:endParaRPr lang="en-US" sz="1300" dirty="0"/>
          </a:p>
        </p:txBody>
      </p:sp>
      <p:sp>
        <p:nvSpPr>
          <p:cNvPr id="6" name="Text 4"/>
          <p:cNvSpPr/>
          <p:nvPr/>
        </p:nvSpPr>
        <p:spPr>
          <a:xfrm>
            <a:off x="6303904" y="2168922"/>
            <a:ext cx="5232666" cy="258465"/>
          </a:xfrm>
          <a:prstGeom prst="rect">
            <a:avLst/>
          </a:prstGeom>
          <a:noFill/>
          <a:ln/>
        </p:spPr>
        <p:txBody>
          <a:bodyPr wrap="none" lIns="0" tIns="0" rIns="0" bIns="0" rtlCol="0" anchor="t"/>
          <a:lstStyle/>
          <a:p>
            <a:pPr marL="0" indent="0" algn="l">
              <a:lnSpc>
                <a:spcPct val="104000"/>
              </a:lnSpc>
              <a:buNone/>
            </a:pPr>
            <a:r>
              <a:rPr lang="en-US" sz="1600" dirty="0">
                <a:solidFill>
                  <a:srgbClr val="74767D"/>
                </a:solidFill>
                <a:latin typeface="Montserrat Medium" pitchFamily="34" charset="0"/>
                <a:ea typeface="Montserrat Medium" pitchFamily="34" charset="-122"/>
                <a:cs typeface="Montserrat Medium" pitchFamily="34" charset="-120"/>
              </a:rPr>
              <a:t>Why Automation Is Needed</a:t>
            </a:r>
            <a:endParaRPr lang="en-US" sz="1600" dirty="0"/>
          </a:p>
        </p:txBody>
      </p:sp>
      <p:sp>
        <p:nvSpPr>
          <p:cNvPr id="7" name="Text 5"/>
          <p:cNvSpPr/>
          <p:nvPr/>
        </p:nvSpPr>
        <p:spPr>
          <a:xfrm>
            <a:off x="6303904" y="2592685"/>
            <a:ext cx="5232666"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D3E44"/>
                </a:solidFill>
                <a:latin typeface="Inter Light" pitchFamily="34" charset="0"/>
                <a:ea typeface="Inter Light" pitchFamily="34" charset="-122"/>
                <a:cs typeface="Inter Light" pitchFamily="34" charset="-120"/>
              </a:rPr>
              <a:t>An AI-powered solution can analyze contracts at scale, classify legal clauses into predefined categories, and flag risky contractual terms — making the review process faster, more accurate, and significantly more cost-effective than traditional manual methods.</a:t>
            </a:r>
            <a:endParaRPr lang="en-US" sz="1300" dirty="0"/>
          </a:p>
        </p:txBody>
      </p:sp>
      <p:sp>
        <p:nvSpPr>
          <p:cNvPr id="8" name="Text 6"/>
          <p:cNvSpPr/>
          <p:nvPr/>
        </p:nvSpPr>
        <p:spPr>
          <a:xfrm>
            <a:off x="6303904" y="3979220"/>
            <a:ext cx="5232666" cy="1761232"/>
          </a:xfrm>
          <a:prstGeom prst="rect">
            <a:avLst/>
          </a:prstGeom>
          <a:noFill/>
          <a:ln/>
        </p:spPr>
        <p:txBody>
          <a:bodyPr wrap="square" lIns="0" tIns="0" rIns="0" bIns="0" rtlCol="0" anchor="t">
            <a:normAutofit/>
          </a:bodyPr>
          <a:lstStyle/>
          <a:p>
            <a:pPr marL="264160" indent="-264160" algn="l">
              <a:lnSpc>
                <a:spcPct val="133000"/>
              </a:lnSpc>
              <a:buSzPct val="100000"/>
              <a:buChar char="•"/>
            </a:pPr>
            <a:r>
              <a:rPr lang="en-US" sz="1300" dirty="0">
                <a:solidFill>
                  <a:srgbClr val="3D3E44"/>
                </a:solidFill>
                <a:latin typeface="Inter Light" pitchFamily="34" charset="0"/>
                <a:ea typeface="Inter Light" pitchFamily="34" charset="-122"/>
                <a:cs typeface="Inter Light" pitchFamily="34" charset="-120"/>
              </a:rPr>
              <a:t>Contracts can span hundreds of pages with dense legal terminology</a:t>
            </a:r>
            <a:endParaRPr lang="en-US" sz="1300" dirty="0"/>
          </a:p>
          <a:p>
            <a:pPr marL="264160" indent="-264160" algn="l">
              <a:lnSpc>
                <a:spcPct val="133000"/>
              </a:lnSpc>
              <a:buSzPct val="100000"/>
              <a:buChar char="•"/>
            </a:pPr>
            <a:r>
              <a:rPr lang="en-US" sz="1300" dirty="0">
                <a:solidFill>
                  <a:srgbClr val="3D3E44"/>
                </a:solidFill>
                <a:latin typeface="Inter Light" pitchFamily="34" charset="0"/>
                <a:ea typeface="Inter Light" pitchFamily="34" charset="-122"/>
                <a:cs typeface="Inter Light" pitchFamily="34" charset="-120"/>
              </a:rPr>
              <a:t>Missed clauses can result in costly litigation or unfavorable terms</a:t>
            </a:r>
            <a:endParaRPr lang="en-US" sz="1300" dirty="0"/>
          </a:p>
          <a:p>
            <a:pPr marL="264160" indent="-264160" algn="l">
              <a:lnSpc>
                <a:spcPct val="133000"/>
              </a:lnSpc>
              <a:buSzPct val="100000"/>
              <a:buChar char="•"/>
            </a:pPr>
            <a:r>
              <a:rPr lang="en-US" sz="1300" dirty="0">
                <a:solidFill>
                  <a:srgbClr val="3D3E44"/>
                </a:solidFill>
                <a:latin typeface="Inter Light" pitchFamily="34" charset="0"/>
                <a:ea typeface="Inter Light" pitchFamily="34" charset="-122"/>
                <a:cs typeface="Inter Light" pitchFamily="34" charset="-120"/>
              </a:rPr>
              <a:t>Legal teams are often understaffed and overburdened</a:t>
            </a:r>
            <a:endParaRPr lang="en-US" sz="1300" dirty="0"/>
          </a:p>
          <a:p>
            <a:pPr marL="264160" indent="-264160" algn="l">
              <a:lnSpc>
                <a:spcPct val="133000"/>
              </a:lnSpc>
              <a:buSzPct val="100000"/>
              <a:buChar char="•"/>
            </a:pPr>
            <a:r>
              <a:rPr lang="en-US" sz="1300" dirty="0">
                <a:solidFill>
                  <a:srgbClr val="3D3E44"/>
                </a:solidFill>
                <a:latin typeface="Inter Light" pitchFamily="34" charset="0"/>
                <a:ea typeface="Inter Light" pitchFamily="34" charset="-122"/>
                <a:cs typeface="Inter Light" pitchFamily="34" charset="-120"/>
              </a:rPr>
              <a:t>Consistency in review is difficult to maintain across reviewers</a:t>
            </a:r>
            <a:endParaRPr lang="en-US" sz="1300" dirty="0"/>
          </a:p>
        </p:txBody>
      </p:sp>
      <p:pic>
        <p:nvPicPr>
          <p:cNvPr id="10" name="Picture 9">
            <a:extLst>
              <a:ext uri="{FF2B5EF4-FFF2-40B4-BE49-F238E27FC236}">
                <a16:creationId xmlns:a16="http://schemas.microsoft.com/office/drawing/2014/main" id="{E3C17667-E129-C7BF-73B4-AAD5186E0CC5}"/>
              </a:ext>
            </a:extLst>
          </p:cNvPr>
          <p:cNvPicPr>
            <a:picLocks noChangeAspect="1"/>
          </p:cNvPicPr>
          <p:nvPr/>
        </p:nvPicPr>
        <p:blipFill>
          <a:blip r:embed="rId3"/>
          <a:stretch>
            <a:fillRect/>
          </a:stretch>
        </p:blipFill>
        <p:spPr>
          <a:xfrm>
            <a:off x="11028784" y="6491743"/>
            <a:ext cx="1163216" cy="342930"/>
          </a:xfrm>
          <a:prstGeom prst="rect">
            <a:avLst/>
          </a:prstGeom>
        </p:spPr>
      </p:pic>
      <p:pic>
        <p:nvPicPr>
          <p:cNvPr id="12" name="Picture 11">
            <a:extLst>
              <a:ext uri="{FF2B5EF4-FFF2-40B4-BE49-F238E27FC236}">
                <a16:creationId xmlns:a16="http://schemas.microsoft.com/office/drawing/2014/main" id="{25C03423-B5A2-D658-B4DC-ACABDAECBDB5}"/>
              </a:ext>
            </a:extLst>
          </p:cNvPr>
          <p:cNvPicPr>
            <a:picLocks noChangeAspect="1"/>
          </p:cNvPicPr>
          <p:nvPr/>
        </p:nvPicPr>
        <p:blipFill>
          <a:blip r:embed="rId4"/>
          <a:stretch>
            <a:fillRect/>
          </a:stretch>
        </p:blipFill>
        <p:spPr>
          <a:xfrm>
            <a:off x="4092883" y="2102149"/>
            <a:ext cx="526934" cy="581615"/>
          </a:xfrm>
          <a:prstGeom prst="rect">
            <a:avLst/>
          </a:prstGeom>
        </p:spPr>
      </p:pic>
      <p:pic>
        <p:nvPicPr>
          <p:cNvPr id="14" name="Picture 13">
            <a:extLst>
              <a:ext uri="{FF2B5EF4-FFF2-40B4-BE49-F238E27FC236}">
                <a16:creationId xmlns:a16="http://schemas.microsoft.com/office/drawing/2014/main" id="{F6E9B89F-C81C-6880-D447-70836C428A89}"/>
              </a:ext>
            </a:extLst>
          </p:cNvPr>
          <p:cNvPicPr>
            <a:picLocks noChangeAspect="1"/>
          </p:cNvPicPr>
          <p:nvPr/>
        </p:nvPicPr>
        <p:blipFill>
          <a:blip r:embed="rId5"/>
          <a:stretch>
            <a:fillRect/>
          </a:stretch>
        </p:blipFill>
        <p:spPr>
          <a:xfrm>
            <a:off x="9505922" y="1891638"/>
            <a:ext cx="599306" cy="613407"/>
          </a:xfrm>
          <a:prstGeom prst="rect">
            <a:avLst/>
          </a:prstGeom>
        </p:spPr>
      </p:pic>
      <p:pic>
        <p:nvPicPr>
          <p:cNvPr id="16" name="Picture 15">
            <a:extLst>
              <a:ext uri="{FF2B5EF4-FFF2-40B4-BE49-F238E27FC236}">
                <a16:creationId xmlns:a16="http://schemas.microsoft.com/office/drawing/2014/main" id="{0960C27D-0989-D619-0598-FC099E368D52}"/>
              </a:ext>
            </a:extLst>
          </p:cNvPr>
          <p:cNvPicPr>
            <a:picLocks noChangeAspect="1"/>
          </p:cNvPicPr>
          <p:nvPr/>
        </p:nvPicPr>
        <p:blipFill>
          <a:blip r:embed="rId6"/>
          <a:stretch>
            <a:fillRect/>
          </a:stretch>
        </p:blipFill>
        <p:spPr>
          <a:xfrm>
            <a:off x="2314034" y="4426330"/>
            <a:ext cx="2042316" cy="101683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070173"/>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74767D"/>
                </a:solidFill>
                <a:latin typeface="Montserrat Medium" pitchFamily="34" charset="0"/>
                <a:ea typeface="Montserrat Medium" pitchFamily="34" charset="-122"/>
                <a:cs typeface="Montserrat Medium" pitchFamily="34" charset="-120"/>
              </a:rPr>
              <a:t>Proposed Solution</a:t>
            </a:r>
            <a:endParaRPr lang="en-US" sz="3250" dirty="0"/>
          </a:p>
        </p:txBody>
      </p:sp>
      <p:sp>
        <p:nvSpPr>
          <p:cNvPr id="3" name="Text 1"/>
          <p:cNvSpPr/>
          <p:nvPr/>
        </p:nvSpPr>
        <p:spPr>
          <a:xfrm>
            <a:off x="661475" y="1917601"/>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D3E44"/>
                </a:solidFill>
                <a:latin typeface="Inter Light" pitchFamily="34" charset="0"/>
                <a:ea typeface="Inter Light" pitchFamily="34" charset="-122"/>
                <a:cs typeface="Inter Light" pitchFamily="34" charset="-120"/>
              </a:rPr>
              <a:t>The system combines Natural Language Processing with a rule-based risk detection engine to deliver intelligent, explainable contract analysis in real time.</a:t>
            </a:r>
            <a:endParaRPr lang="en-US" sz="1300" dirty="0"/>
          </a:p>
        </p:txBody>
      </p:sp>
      <p:sp>
        <p:nvSpPr>
          <p:cNvPr id="4" name="Shape 2"/>
          <p:cNvSpPr/>
          <p:nvPr/>
        </p:nvSpPr>
        <p:spPr>
          <a:xfrm>
            <a:off x="661475" y="2632869"/>
            <a:ext cx="5351725" cy="1494830"/>
          </a:xfrm>
          <a:prstGeom prst="roundRect">
            <a:avLst>
              <a:gd name="adj" fmla="val 9958"/>
            </a:avLst>
          </a:prstGeom>
          <a:solidFill>
            <a:srgbClr val="EFF0F6"/>
          </a:solidFill>
          <a:ln w="6350">
            <a:solidFill>
              <a:srgbClr val="C5C7D2"/>
            </a:solidFill>
            <a:prstDash val="solid"/>
          </a:ln>
        </p:spPr>
      </p:sp>
      <p:sp>
        <p:nvSpPr>
          <p:cNvPr id="5" name="Text 3"/>
          <p:cNvSpPr/>
          <p:nvPr/>
        </p:nvSpPr>
        <p:spPr>
          <a:xfrm>
            <a:off x="833119" y="2804517"/>
            <a:ext cx="5008437" cy="258465"/>
          </a:xfrm>
          <a:prstGeom prst="rect">
            <a:avLst/>
          </a:prstGeom>
          <a:noFill/>
          <a:ln/>
        </p:spPr>
        <p:txBody>
          <a:bodyPr wrap="none" lIns="0" tIns="0" rIns="0" bIns="0" rtlCol="0" anchor="t"/>
          <a:lstStyle/>
          <a:p>
            <a:pPr marL="0" indent="0" algn="l">
              <a:lnSpc>
                <a:spcPct val="104000"/>
              </a:lnSpc>
              <a:buNone/>
            </a:pPr>
            <a:r>
              <a:rPr lang="en-US" sz="1600" dirty="0">
                <a:solidFill>
                  <a:srgbClr val="3D3E44"/>
                </a:solidFill>
                <a:latin typeface="Montserrat Medium" pitchFamily="34" charset="0"/>
                <a:ea typeface="Montserrat Medium" pitchFamily="34" charset="-122"/>
                <a:cs typeface="Montserrat Medium" pitchFamily="34" charset="-120"/>
              </a:rPr>
              <a:t>NLP Clause Understanding</a:t>
            </a:r>
            <a:endParaRPr lang="en-US" sz="1600" dirty="0"/>
          </a:p>
        </p:txBody>
      </p:sp>
      <p:sp>
        <p:nvSpPr>
          <p:cNvPr id="6" name="Text 4"/>
          <p:cNvSpPr/>
          <p:nvPr/>
        </p:nvSpPr>
        <p:spPr>
          <a:xfrm>
            <a:off x="833119" y="3162201"/>
            <a:ext cx="5008437"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D3E44"/>
                </a:solidFill>
                <a:latin typeface="Inter Light" pitchFamily="34" charset="0"/>
                <a:ea typeface="Inter Light" pitchFamily="34" charset="-122"/>
                <a:cs typeface="Inter Light" pitchFamily="34" charset="-120"/>
              </a:rPr>
              <a:t>NLP techniques parse and interpret legal text, extracting semantic meaning from complex contractual language to enable accurate classification.</a:t>
            </a:r>
            <a:endParaRPr lang="en-US" sz="1300" dirty="0"/>
          </a:p>
        </p:txBody>
      </p:sp>
      <p:sp>
        <p:nvSpPr>
          <p:cNvPr id="7" name="Shape 5"/>
          <p:cNvSpPr/>
          <p:nvPr/>
        </p:nvSpPr>
        <p:spPr>
          <a:xfrm>
            <a:off x="6178495" y="2632869"/>
            <a:ext cx="5351725" cy="1494830"/>
          </a:xfrm>
          <a:prstGeom prst="roundRect">
            <a:avLst>
              <a:gd name="adj" fmla="val 9958"/>
            </a:avLst>
          </a:prstGeom>
          <a:solidFill>
            <a:srgbClr val="EFF0F6"/>
          </a:solidFill>
          <a:ln w="6350">
            <a:solidFill>
              <a:srgbClr val="C5C7D2"/>
            </a:solidFill>
            <a:prstDash val="solid"/>
          </a:ln>
        </p:spPr>
      </p:sp>
      <p:sp>
        <p:nvSpPr>
          <p:cNvPr id="8" name="Text 6"/>
          <p:cNvSpPr/>
          <p:nvPr/>
        </p:nvSpPr>
        <p:spPr>
          <a:xfrm>
            <a:off x="6350139" y="2804517"/>
            <a:ext cx="5008437" cy="258465"/>
          </a:xfrm>
          <a:prstGeom prst="rect">
            <a:avLst/>
          </a:prstGeom>
          <a:noFill/>
          <a:ln/>
        </p:spPr>
        <p:txBody>
          <a:bodyPr wrap="none" lIns="0" tIns="0" rIns="0" bIns="0" rtlCol="0" anchor="t"/>
          <a:lstStyle/>
          <a:p>
            <a:pPr marL="0" indent="0" algn="l">
              <a:lnSpc>
                <a:spcPct val="104000"/>
              </a:lnSpc>
              <a:buNone/>
            </a:pPr>
            <a:r>
              <a:rPr lang="en-US" sz="1600" dirty="0">
                <a:solidFill>
                  <a:srgbClr val="3D3E44"/>
                </a:solidFill>
                <a:latin typeface="Montserrat Medium" pitchFamily="34" charset="0"/>
                <a:ea typeface="Montserrat Medium" pitchFamily="34" charset="-122"/>
                <a:cs typeface="Montserrat Medium" pitchFamily="34" charset="-120"/>
              </a:rPr>
              <a:t>ML Classification Engine</a:t>
            </a:r>
            <a:endParaRPr lang="en-US" sz="1600" dirty="0"/>
          </a:p>
        </p:txBody>
      </p:sp>
      <p:sp>
        <p:nvSpPr>
          <p:cNvPr id="9" name="Text 7"/>
          <p:cNvSpPr/>
          <p:nvPr/>
        </p:nvSpPr>
        <p:spPr>
          <a:xfrm>
            <a:off x="6350139" y="3162201"/>
            <a:ext cx="5008437"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D3E44"/>
                </a:solidFill>
                <a:latin typeface="Inter Light" pitchFamily="34" charset="0"/>
                <a:ea typeface="Inter Light" pitchFamily="34" charset="-122"/>
                <a:cs typeface="Inter Light" pitchFamily="34" charset="-120"/>
              </a:rPr>
              <a:t>A supervised Machine Learning model predicts the clause type from </a:t>
            </a:r>
            <a:r>
              <a:rPr lang="en-US" sz="1300" b="1" dirty="0">
                <a:solidFill>
                  <a:srgbClr val="3D3E44"/>
                </a:solidFill>
                <a:latin typeface="Inter Bold" pitchFamily="34" charset="0"/>
                <a:ea typeface="Inter Bold" pitchFamily="34" charset="-122"/>
                <a:cs typeface="Inter Bold" pitchFamily="34" charset="-120"/>
              </a:rPr>
              <a:t>17 predefined legal categories</a:t>
            </a:r>
            <a:r>
              <a:rPr lang="en-US" sz="1300" dirty="0">
                <a:solidFill>
                  <a:srgbClr val="3D3E44"/>
                </a:solidFill>
                <a:latin typeface="Inter Light" pitchFamily="34" charset="0"/>
                <a:ea typeface="Inter Light" pitchFamily="34" charset="-122"/>
                <a:cs typeface="Inter Light" pitchFamily="34" charset="-120"/>
              </a:rPr>
              <a:t>, outputting a confidence score for each prediction.</a:t>
            </a:r>
            <a:endParaRPr lang="en-US" sz="1300" dirty="0"/>
          </a:p>
        </p:txBody>
      </p:sp>
      <p:sp>
        <p:nvSpPr>
          <p:cNvPr id="10" name="Shape 8"/>
          <p:cNvSpPr/>
          <p:nvPr/>
        </p:nvSpPr>
        <p:spPr>
          <a:xfrm>
            <a:off x="661475" y="4292997"/>
            <a:ext cx="5351725" cy="1494830"/>
          </a:xfrm>
          <a:prstGeom prst="roundRect">
            <a:avLst>
              <a:gd name="adj" fmla="val 9958"/>
            </a:avLst>
          </a:prstGeom>
          <a:solidFill>
            <a:srgbClr val="EFF0F6"/>
          </a:solidFill>
          <a:ln w="6350">
            <a:solidFill>
              <a:srgbClr val="C5C7D2"/>
            </a:solidFill>
            <a:prstDash val="solid"/>
          </a:ln>
        </p:spPr>
      </p:sp>
      <p:sp>
        <p:nvSpPr>
          <p:cNvPr id="11" name="Text 9"/>
          <p:cNvSpPr/>
          <p:nvPr/>
        </p:nvSpPr>
        <p:spPr>
          <a:xfrm>
            <a:off x="833119" y="4464645"/>
            <a:ext cx="5008437" cy="258465"/>
          </a:xfrm>
          <a:prstGeom prst="rect">
            <a:avLst/>
          </a:prstGeom>
          <a:noFill/>
          <a:ln/>
        </p:spPr>
        <p:txBody>
          <a:bodyPr wrap="none" lIns="0" tIns="0" rIns="0" bIns="0" rtlCol="0" anchor="t"/>
          <a:lstStyle/>
          <a:p>
            <a:pPr marL="0" indent="0" algn="l">
              <a:lnSpc>
                <a:spcPct val="104000"/>
              </a:lnSpc>
              <a:buNone/>
            </a:pPr>
            <a:r>
              <a:rPr lang="en-US" sz="1600" dirty="0">
                <a:solidFill>
                  <a:srgbClr val="3D3E44"/>
                </a:solidFill>
                <a:latin typeface="Montserrat Medium" pitchFamily="34" charset="0"/>
                <a:ea typeface="Montserrat Medium" pitchFamily="34" charset="-122"/>
                <a:cs typeface="Montserrat Medium" pitchFamily="34" charset="-120"/>
              </a:rPr>
              <a:t>Rule-Based Risk Detection</a:t>
            </a:r>
            <a:endParaRPr lang="en-US" sz="1600" dirty="0"/>
          </a:p>
        </p:txBody>
      </p:sp>
      <p:sp>
        <p:nvSpPr>
          <p:cNvPr id="12" name="Text 10"/>
          <p:cNvSpPr/>
          <p:nvPr/>
        </p:nvSpPr>
        <p:spPr>
          <a:xfrm>
            <a:off x="833119" y="4822329"/>
            <a:ext cx="5008437"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D3E44"/>
                </a:solidFill>
                <a:latin typeface="Inter Light" pitchFamily="34" charset="0"/>
                <a:ea typeface="Inter Light" pitchFamily="34" charset="-122"/>
                <a:cs typeface="Inter Light" pitchFamily="34" charset="-120"/>
              </a:rPr>
              <a:t>A dedicated engine scans for high-risk legal patterns such as unlimited liability, automatic renewal clauses, and warranty disclaimers.</a:t>
            </a:r>
            <a:endParaRPr lang="en-US" sz="1300" dirty="0"/>
          </a:p>
        </p:txBody>
      </p:sp>
      <p:sp>
        <p:nvSpPr>
          <p:cNvPr id="13" name="Shape 11"/>
          <p:cNvSpPr/>
          <p:nvPr/>
        </p:nvSpPr>
        <p:spPr>
          <a:xfrm>
            <a:off x="6178495" y="4292997"/>
            <a:ext cx="5351725" cy="1494830"/>
          </a:xfrm>
          <a:prstGeom prst="roundRect">
            <a:avLst>
              <a:gd name="adj" fmla="val 9958"/>
            </a:avLst>
          </a:prstGeom>
          <a:solidFill>
            <a:srgbClr val="EFF0F6"/>
          </a:solidFill>
          <a:ln w="6350">
            <a:solidFill>
              <a:srgbClr val="C5C7D2"/>
            </a:solidFill>
            <a:prstDash val="solid"/>
          </a:ln>
        </p:spPr>
      </p:sp>
      <p:sp>
        <p:nvSpPr>
          <p:cNvPr id="14" name="Text 12"/>
          <p:cNvSpPr/>
          <p:nvPr/>
        </p:nvSpPr>
        <p:spPr>
          <a:xfrm>
            <a:off x="6350139" y="4464645"/>
            <a:ext cx="5008437" cy="258465"/>
          </a:xfrm>
          <a:prstGeom prst="rect">
            <a:avLst/>
          </a:prstGeom>
          <a:noFill/>
          <a:ln/>
        </p:spPr>
        <p:txBody>
          <a:bodyPr wrap="none" lIns="0" tIns="0" rIns="0" bIns="0" rtlCol="0" anchor="t"/>
          <a:lstStyle/>
          <a:p>
            <a:pPr marL="0" indent="0" algn="l">
              <a:lnSpc>
                <a:spcPct val="104000"/>
              </a:lnSpc>
              <a:buNone/>
            </a:pPr>
            <a:r>
              <a:rPr lang="en-US" sz="1600" dirty="0">
                <a:solidFill>
                  <a:srgbClr val="3D3E44"/>
                </a:solidFill>
                <a:latin typeface="Montserrat Medium" pitchFamily="34" charset="0"/>
                <a:ea typeface="Montserrat Medium" pitchFamily="34" charset="-122"/>
                <a:cs typeface="Montserrat Medium" pitchFamily="34" charset="-120"/>
              </a:rPr>
              <a:t>Structured Output</a:t>
            </a:r>
            <a:endParaRPr lang="en-US" sz="1600" dirty="0"/>
          </a:p>
        </p:txBody>
      </p:sp>
      <p:sp>
        <p:nvSpPr>
          <p:cNvPr id="15" name="Text 13"/>
          <p:cNvSpPr/>
          <p:nvPr/>
        </p:nvSpPr>
        <p:spPr>
          <a:xfrm>
            <a:off x="6350139" y="4822329"/>
            <a:ext cx="500843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D3E44"/>
                </a:solidFill>
                <a:latin typeface="Inter Light" pitchFamily="34" charset="0"/>
                <a:ea typeface="Inter Light" pitchFamily="34" charset="-122"/>
                <a:cs typeface="Inter Light" pitchFamily="34" charset="-120"/>
              </a:rPr>
              <a:t>Every analysis returns four fields: </a:t>
            </a:r>
            <a:r>
              <a:rPr lang="en-US" sz="1300" b="1" dirty="0">
                <a:solidFill>
                  <a:srgbClr val="3D3E44"/>
                </a:solidFill>
                <a:latin typeface="Inter Bold" pitchFamily="34" charset="0"/>
                <a:ea typeface="Inter Bold" pitchFamily="34" charset="-122"/>
                <a:cs typeface="Inter Bold" pitchFamily="34" charset="-120"/>
              </a:rPr>
              <a:t>Clause Category</a:t>
            </a:r>
            <a:r>
              <a:rPr lang="en-US" sz="1300" dirty="0">
                <a:solidFill>
                  <a:srgbClr val="3D3E44"/>
                </a:solidFill>
                <a:latin typeface="Inter Light" pitchFamily="34" charset="0"/>
                <a:ea typeface="Inter Light" pitchFamily="34" charset="-122"/>
                <a:cs typeface="Inter Light" pitchFamily="34" charset="-120"/>
              </a:rPr>
              <a:t>, </a:t>
            </a:r>
            <a:r>
              <a:rPr lang="en-US" sz="1300" b="1" dirty="0">
                <a:solidFill>
                  <a:srgbClr val="3D3E44"/>
                </a:solidFill>
                <a:latin typeface="Inter Bold" pitchFamily="34" charset="0"/>
                <a:ea typeface="Inter Bold" pitchFamily="34" charset="-122"/>
                <a:cs typeface="Inter Bold" pitchFamily="34" charset="-120"/>
              </a:rPr>
              <a:t>Prediction Confidence</a:t>
            </a:r>
            <a:r>
              <a:rPr lang="en-US" sz="1300" dirty="0">
                <a:solidFill>
                  <a:srgbClr val="3D3E44"/>
                </a:solidFill>
                <a:latin typeface="Inter Light" pitchFamily="34" charset="0"/>
                <a:ea typeface="Inter Light" pitchFamily="34" charset="-122"/>
                <a:cs typeface="Inter Light" pitchFamily="34" charset="-120"/>
              </a:rPr>
              <a:t>, </a:t>
            </a:r>
            <a:r>
              <a:rPr lang="en-US" sz="1300" b="1" dirty="0">
                <a:solidFill>
                  <a:srgbClr val="3D3E44"/>
                </a:solidFill>
                <a:latin typeface="Inter Bold" pitchFamily="34" charset="0"/>
                <a:ea typeface="Inter Bold" pitchFamily="34" charset="-122"/>
                <a:cs typeface="Inter Bold" pitchFamily="34" charset="-120"/>
              </a:rPr>
              <a:t>Risk Level</a:t>
            </a:r>
            <a:r>
              <a:rPr lang="en-US" sz="1300" dirty="0">
                <a:solidFill>
                  <a:srgbClr val="3D3E44"/>
                </a:solidFill>
                <a:latin typeface="Inter Light" pitchFamily="34" charset="0"/>
                <a:ea typeface="Inter Light" pitchFamily="34" charset="-122"/>
                <a:cs typeface="Inter Light" pitchFamily="34" charset="-120"/>
              </a:rPr>
              <a:t>, and a plain-language </a:t>
            </a:r>
            <a:r>
              <a:rPr lang="en-US" sz="1300" b="1" dirty="0">
                <a:solidFill>
                  <a:srgbClr val="3D3E44"/>
                </a:solidFill>
                <a:latin typeface="Inter Bold" pitchFamily="34" charset="0"/>
                <a:ea typeface="Inter Bold" pitchFamily="34" charset="-122"/>
                <a:cs typeface="Inter Bold" pitchFamily="34" charset="-120"/>
              </a:rPr>
              <a:t>Risk Explanation</a:t>
            </a:r>
            <a:r>
              <a:rPr lang="en-US" sz="1300" dirty="0">
                <a:solidFill>
                  <a:srgbClr val="3D3E44"/>
                </a:solidFill>
                <a:latin typeface="Inter Light" pitchFamily="34" charset="0"/>
                <a:ea typeface="Inter Light" pitchFamily="34" charset="-122"/>
                <a:cs typeface="Inter Light" pitchFamily="34" charset="-120"/>
              </a:rPr>
              <a:t>.</a:t>
            </a:r>
            <a:endParaRPr lang="en-US" sz="1300" dirty="0"/>
          </a:p>
        </p:txBody>
      </p:sp>
      <p:pic>
        <p:nvPicPr>
          <p:cNvPr id="17" name="Picture 16">
            <a:extLst>
              <a:ext uri="{FF2B5EF4-FFF2-40B4-BE49-F238E27FC236}">
                <a16:creationId xmlns:a16="http://schemas.microsoft.com/office/drawing/2014/main" id="{F833ED4E-250B-B02B-DDF0-3771B5FA5B95}"/>
              </a:ext>
            </a:extLst>
          </p:cNvPr>
          <p:cNvPicPr>
            <a:picLocks noChangeAspect="1"/>
          </p:cNvPicPr>
          <p:nvPr/>
        </p:nvPicPr>
        <p:blipFill>
          <a:blip r:embed="rId3"/>
          <a:stretch>
            <a:fillRect/>
          </a:stretch>
        </p:blipFill>
        <p:spPr>
          <a:xfrm>
            <a:off x="11028784" y="6491743"/>
            <a:ext cx="1163216" cy="3429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603548"/>
            <a:ext cx="10868745" cy="361752"/>
          </a:xfrm>
          <a:prstGeom prst="rect">
            <a:avLst/>
          </a:prstGeom>
          <a:noFill/>
          <a:ln/>
        </p:spPr>
        <p:txBody>
          <a:bodyPr wrap="none" lIns="0" tIns="0" rIns="0" bIns="0" rtlCol="0" anchor="t"/>
          <a:lstStyle/>
          <a:p>
            <a:pPr marL="0" indent="0" algn="l">
              <a:lnSpc>
                <a:spcPct val="104000"/>
              </a:lnSpc>
              <a:buNone/>
            </a:pPr>
            <a:r>
              <a:rPr lang="en-US" sz="2250" dirty="0">
                <a:solidFill>
                  <a:srgbClr val="74767D"/>
                </a:solidFill>
                <a:latin typeface="Montserrat Medium" pitchFamily="34" charset="0"/>
                <a:ea typeface="Montserrat Medium" pitchFamily="34" charset="-122"/>
                <a:cs typeface="Montserrat Medium" pitchFamily="34" charset="-120"/>
              </a:rPr>
              <a:t>Dataset &amp; Data Preprocessing</a:t>
            </a:r>
            <a:endParaRPr lang="en-US" sz="2250" dirty="0"/>
          </a:p>
        </p:txBody>
      </p:sp>
      <p:sp>
        <p:nvSpPr>
          <p:cNvPr id="3" name="Text 1"/>
          <p:cNvSpPr/>
          <p:nvPr/>
        </p:nvSpPr>
        <p:spPr>
          <a:xfrm>
            <a:off x="661475" y="1167805"/>
            <a:ext cx="5293188" cy="180876"/>
          </a:xfrm>
          <a:prstGeom prst="rect">
            <a:avLst/>
          </a:prstGeom>
          <a:noFill/>
          <a:ln/>
        </p:spPr>
        <p:txBody>
          <a:bodyPr wrap="none" lIns="0" tIns="0" rIns="0" bIns="0" rtlCol="0" anchor="t"/>
          <a:lstStyle/>
          <a:p>
            <a:pPr marL="0" indent="0" algn="l">
              <a:lnSpc>
                <a:spcPct val="104000"/>
              </a:lnSpc>
              <a:buNone/>
            </a:pPr>
            <a:r>
              <a:rPr lang="en-US" sz="1100" dirty="0">
                <a:solidFill>
                  <a:srgbClr val="74767D"/>
                </a:solidFill>
                <a:latin typeface="Montserrat Medium" pitchFamily="34" charset="0"/>
                <a:ea typeface="Montserrat Medium" pitchFamily="34" charset="-122"/>
                <a:cs typeface="Montserrat Medium" pitchFamily="34" charset="-120"/>
              </a:rPr>
              <a:t>CUAD Dataset</a:t>
            </a:r>
            <a:endParaRPr lang="en-US" sz="1100" dirty="0"/>
          </a:p>
        </p:txBody>
      </p:sp>
      <p:sp>
        <p:nvSpPr>
          <p:cNvPr id="4" name="Text 2"/>
          <p:cNvSpPr/>
          <p:nvPr/>
        </p:nvSpPr>
        <p:spPr>
          <a:xfrm>
            <a:off x="661475" y="1429643"/>
            <a:ext cx="5293188" cy="875018"/>
          </a:xfrm>
          <a:prstGeom prst="rect">
            <a:avLst/>
          </a:prstGeom>
          <a:noFill/>
          <a:ln/>
        </p:spPr>
        <p:txBody>
          <a:bodyPr wrap="square" lIns="0" tIns="0" rIns="0" bIns="0" rtlCol="0" anchor="t">
            <a:normAutofit/>
          </a:bodyPr>
          <a:lstStyle/>
          <a:p>
            <a:pPr marL="0" indent="0" algn="l">
              <a:lnSpc>
                <a:spcPct val="113000"/>
              </a:lnSpc>
              <a:buNone/>
            </a:pPr>
            <a:r>
              <a:rPr lang="en-US" sz="900" dirty="0">
                <a:solidFill>
                  <a:srgbClr val="3D3E44"/>
                </a:solidFill>
                <a:latin typeface="Inter Light" pitchFamily="34" charset="0"/>
                <a:ea typeface="Inter Light" pitchFamily="34" charset="-122"/>
                <a:cs typeface="Inter Light" pitchFamily="34" charset="-120"/>
              </a:rPr>
              <a:t>The project uses the </a:t>
            </a:r>
            <a:r>
              <a:rPr lang="en-US" sz="900" b="1" dirty="0">
                <a:solidFill>
                  <a:srgbClr val="3D3E44"/>
                </a:solidFill>
                <a:latin typeface="Inter Bold" pitchFamily="34" charset="0"/>
                <a:ea typeface="Inter Bold" pitchFamily="34" charset="-122"/>
                <a:cs typeface="Inter Bold" pitchFamily="34" charset="-120"/>
              </a:rPr>
              <a:t>Contract Understanding Atticus Dataset (CUAD)</a:t>
            </a:r>
            <a:r>
              <a:rPr lang="en-US" sz="900" dirty="0">
                <a:solidFill>
                  <a:srgbClr val="3D3E44"/>
                </a:solidFill>
                <a:latin typeface="Inter Light" pitchFamily="34" charset="0"/>
                <a:ea typeface="Inter Light" pitchFamily="34" charset="-122"/>
                <a:cs typeface="Inter Light" pitchFamily="34" charset="-120"/>
              </a:rPr>
              <a:t> — a widely recognized benchmark containing thousands of real-world legal contract clauses sourced from diverse business agreements. CUAD is annotated by legal experts, making it ideal for training supervised classification models.</a:t>
            </a:r>
            <a:endParaRPr lang="en-US" sz="900" dirty="0"/>
          </a:p>
        </p:txBody>
      </p:sp>
      <p:sp>
        <p:nvSpPr>
          <p:cNvPr id="5" name="Shape 3"/>
          <p:cNvSpPr/>
          <p:nvPr/>
        </p:nvSpPr>
        <p:spPr>
          <a:xfrm>
            <a:off x="6160040" y="1086842"/>
            <a:ext cx="5459871" cy="1962646"/>
          </a:xfrm>
          <a:prstGeom prst="roundRect">
            <a:avLst>
              <a:gd name="adj" fmla="val 8494"/>
            </a:avLst>
          </a:prstGeom>
          <a:solidFill>
            <a:srgbClr val="C6C9DC"/>
          </a:solidFill>
          <a:ln/>
        </p:spPr>
      </p:sp>
      <p:sp>
        <p:nvSpPr>
          <p:cNvPr id="6" name="Text 4"/>
          <p:cNvSpPr/>
          <p:nvPr/>
        </p:nvSpPr>
        <p:spPr>
          <a:xfrm>
            <a:off x="6275727" y="1167805"/>
            <a:ext cx="5228499" cy="180876"/>
          </a:xfrm>
          <a:prstGeom prst="rect">
            <a:avLst/>
          </a:prstGeom>
          <a:noFill/>
          <a:ln/>
        </p:spPr>
        <p:txBody>
          <a:bodyPr wrap="none" lIns="0" tIns="0" rIns="0" bIns="0" rtlCol="0" anchor="t"/>
          <a:lstStyle/>
          <a:p>
            <a:pPr marL="0" indent="0" algn="l">
              <a:lnSpc>
                <a:spcPct val="104000"/>
              </a:lnSpc>
              <a:buNone/>
            </a:pPr>
            <a:r>
              <a:rPr lang="en-US" sz="1100" dirty="0">
                <a:solidFill>
                  <a:srgbClr val="000000"/>
                </a:solidFill>
                <a:latin typeface="Montserrat Medium" pitchFamily="34" charset="0"/>
                <a:ea typeface="Montserrat Medium" pitchFamily="34" charset="-122"/>
                <a:cs typeface="Montserrat Medium" pitchFamily="34" charset="-120"/>
              </a:rPr>
              <a:t>Preprocessing Pipeline</a:t>
            </a:r>
            <a:endParaRPr lang="en-US" sz="1100" dirty="0"/>
          </a:p>
        </p:txBody>
      </p:sp>
      <p:sp>
        <p:nvSpPr>
          <p:cNvPr id="7" name="Text 5"/>
          <p:cNvSpPr/>
          <p:nvPr/>
        </p:nvSpPr>
        <p:spPr>
          <a:xfrm>
            <a:off x="6275727" y="1429643"/>
            <a:ext cx="5838084" cy="157460"/>
          </a:xfrm>
          <a:prstGeom prst="rect">
            <a:avLst/>
          </a:prstGeom>
          <a:noFill/>
          <a:ln/>
        </p:spPr>
        <p:txBody>
          <a:bodyPr wrap="none" lIns="0" tIns="0" rIns="0" bIns="0" rtlCol="0" anchor="t"/>
          <a:lstStyle/>
          <a:p>
            <a:pPr marL="0" indent="0" algn="l">
              <a:lnSpc>
                <a:spcPct val="113000"/>
              </a:lnSpc>
              <a:buNone/>
            </a:pPr>
            <a:r>
              <a:rPr lang="en-US" sz="900" dirty="0">
                <a:solidFill>
                  <a:srgbClr val="3D3E44"/>
                </a:solidFill>
                <a:latin typeface="Inter Light" pitchFamily="34" charset="0"/>
                <a:ea typeface="Inter Light" pitchFamily="34" charset="-122"/>
                <a:cs typeface="Inter Light" pitchFamily="34" charset="-120"/>
              </a:rPr>
              <a:t>Before training, raw text undergoes a structured cleaning and transformation process:</a:t>
            </a:r>
            <a:endParaRPr lang="en-US" sz="900" dirty="0"/>
          </a:p>
        </p:txBody>
      </p:sp>
      <p:sp>
        <p:nvSpPr>
          <p:cNvPr id="8" name="Text 6"/>
          <p:cNvSpPr/>
          <p:nvPr/>
        </p:nvSpPr>
        <p:spPr>
          <a:xfrm>
            <a:off x="6275727" y="1660029"/>
            <a:ext cx="5228499" cy="1086148"/>
          </a:xfrm>
          <a:prstGeom prst="rect">
            <a:avLst/>
          </a:prstGeom>
          <a:noFill/>
          <a:ln/>
        </p:spPr>
        <p:txBody>
          <a:bodyPr wrap="square" lIns="0" tIns="0" rIns="0" bIns="0" rtlCol="0" anchor="t">
            <a:normAutofit/>
          </a:bodyPr>
          <a:lstStyle/>
          <a:p>
            <a:pPr marL="182880" indent="-182880" algn="l">
              <a:lnSpc>
                <a:spcPct val="113000"/>
              </a:lnSpc>
              <a:buSzPct val="100000"/>
              <a:buChar char="•"/>
            </a:pPr>
            <a:r>
              <a:rPr lang="en-US" sz="900" dirty="0">
                <a:solidFill>
                  <a:srgbClr val="3D3E44"/>
                </a:solidFill>
                <a:latin typeface="Inter Light" pitchFamily="34" charset="0"/>
                <a:ea typeface="Inter Light" pitchFamily="34" charset="-122"/>
                <a:cs typeface="Inter Light" pitchFamily="34" charset="-120"/>
              </a:rPr>
              <a:t>Remove duplicate records</a:t>
            </a:r>
            <a:endParaRPr lang="en-US" sz="900" dirty="0"/>
          </a:p>
          <a:p>
            <a:pPr marL="182880" indent="-182880" algn="l">
              <a:lnSpc>
                <a:spcPct val="113000"/>
              </a:lnSpc>
              <a:buSzPct val="100000"/>
              <a:buChar char="•"/>
            </a:pPr>
            <a:r>
              <a:rPr lang="en-US" sz="900" dirty="0">
                <a:solidFill>
                  <a:srgbClr val="3D3E44"/>
                </a:solidFill>
                <a:latin typeface="Inter Light" pitchFamily="34" charset="0"/>
                <a:ea typeface="Inter Light" pitchFamily="34" charset="-122"/>
                <a:cs typeface="Inter Light" pitchFamily="34" charset="-120"/>
              </a:rPr>
              <a:t>Convert text to lowercase</a:t>
            </a:r>
            <a:endParaRPr lang="en-US" sz="900" dirty="0"/>
          </a:p>
          <a:p>
            <a:pPr marL="182880" indent="-182880" algn="l">
              <a:lnSpc>
                <a:spcPct val="113000"/>
              </a:lnSpc>
              <a:buSzPct val="100000"/>
              <a:buChar char="•"/>
            </a:pPr>
            <a:r>
              <a:rPr lang="en-US" sz="900" dirty="0">
                <a:solidFill>
                  <a:srgbClr val="3D3E44"/>
                </a:solidFill>
                <a:latin typeface="Inter Light" pitchFamily="34" charset="0"/>
                <a:ea typeface="Inter Light" pitchFamily="34" charset="-122"/>
                <a:cs typeface="Inter Light" pitchFamily="34" charset="-120"/>
              </a:rPr>
              <a:t>Strip punctuation and special characters</a:t>
            </a:r>
            <a:endParaRPr lang="en-US" sz="900" dirty="0"/>
          </a:p>
          <a:p>
            <a:pPr marL="182880" indent="-182880" algn="l">
              <a:lnSpc>
                <a:spcPct val="113000"/>
              </a:lnSpc>
              <a:buSzPct val="100000"/>
              <a:buChar char="•"/>
            </a:pPr>
            <a:r>
              <a:rPr lang="en-US" sz="900" dirty="0">
                <a:solidFill>
                  <a:srgbClr val="3D3E44"/>
                </a:solidFill>
                <a:latin typeface="Inter Light" pitchFamily="34" charset="0"/>
                <a:ea typeface="Inter Light" pitchFamily="34" charset="-122"/>
                <a:cs typeface="Inter Light" pitchFamily="34" charset="-120"/>
              </a:rPr>
              <a:t>Remove common English stop words</a:t>
            </a:r>
            <a:endParaRPr lang="en-US" sz="900" dirty="0"/>
          </a:p>
          <a:p>
            <a:pPr marL="182880" indent="-182880" algn="l">
              <a:lnSpc>
                <a:spcPct val="113000"/>
              </a:lnSpc>
              <a:buSzPct val="100000"/>
              <a:buChar char="•"/>
            </a:pPr>
            <a:r>
              <a:rPr lang="en-US" sz="900" dirty="0">
                <a:solidFill>
                  <a:srgbClr val="3D3E44"/>
                </a:solidFill>
                <a:latin typeface="Inter Light" pitchFamily="34" charset="0"/>
                <a:ea typeface="Inter Light" pitchFamily="34" charset="-122"/>
                <a:cs typeface="Inter Light" pitchFamily="34" charset="-120"/>
              </a:rPr>
              <a:t>Normalize text (stemming/lemmatization)</a:t>
            </a:r>
            <a:endParaRPr lang="en-US" sz="900" dirty="0"/>
          </a:p>
          <a:p>
            <a:pPr marL="182880" indent="-182880" algn="l">
              <a:lnSpc>
                <a:spcPct val="113000"/>
              </a:lnSpc>
              <a:buSzPct val="100000"/>
              <a:buChar char="•"/>
            </a:pPr>
            <a:r>
              <a:rPr lang="en-US" sz="900" dirty="0">
                <a:solidFill>
                  <a:srgbClr val="3D3E44"/>
                </a:solidFill>
                <a:latin typeface="Inter Light" pitchFamily="34" charset="0"/>
                <a:ea typeface="Inter Light" pitchFamily="34" charset="-122"/>
                <a:cs typeface="Inter Light" pitchFamily="34" charset="-120"/>
              </a:rPr>
              <a:t>Convert text to numerical features using </a:t>
            </a:r>
            <a:r>
              <a:rPr lang="en-US" sz="900" b="1" dirty="0">
                <a:solidFill>
                  <a:srgbClr val="3D3E44"/>
                </a:solidFill>
                <a:latin typeface="Inter Bold" pitchFamily="34" charset="0"/>
                <a:ea typeface="Inter Bold" pitchFamily="34" charset="-122"/>
                <a:cs typeface="Inter Bold" pitchFamily="34" charset="-120"/>
              </a:rPr>
              <a:t>TF-IDF Vectorization</a:t>
            </a:r>
            <a:endParaRPr lang="en-US" sz="900" dirty="0"/>
          </a:p>
        </p:txBody>
      </p:sp>
      <p:sp>
        <p:nvSpPr>
          <p:cNvPr id="9" name="Text 7"/>
          <p:cNvSpPr/>
          <p:nvPr/>
        </p:nvSpPr>
        <p:spPr>
          <a:xfrm>
            <a:off x="6275727" y="2819102"/>
            <a:ext cx="5838084" cy="157460"/>
          </a:xfrm>
          <a:prstGeom prst="rect">
            <a:avLst/>
          </a:prstGeom>
          <a:noFill/>
          <a:ln/>
        </p:spPr>
        <p:txBody>
          <a:bodyPr wrap="none" lIns="0" tIns="0" rIns="0" bIns="0" rtlCol="0" anchor="t"/>
          <a:lstStyle/>
          <a:p>
            <a:pPr marL="0" indent="0" algn="l">
              <a:lnSpc>
                <a:spcPct val="113000"/>
              </a:lnSpc>
              <a:buNone/>
            </a:pPr>
            <a:r>
              <a:rPr lang="en-US" sz="900" dirty="0">
                <a:solidFill>
                  <a:srgbClr val="3D3E44"/>
                </a:solidFill>
                <a:latin typeface="Inter Light" pitchFamily="34" charset="0"/>
                <a:ea typeface="Inter Light" pitchFamily="34" charset="-122"/>
                <a:cs typeface="Inter Light" pitchFamily="34" charset="-120"/>
              </a:rPr>
              <a:t>The processed dataset is then split into training and testing sets for model evaluation.</a:t>
            </a:r>
            <a:endParaRPr lang="en-US" sz="900" dirty="0"/>
          </a:p>
        </p:txBody>
      </p:sp>
      <p:pic>
        <p:nvPicPr>
          <p:cNvPr id="10" name="Image 0" descr="preencoded.png"/>
          <p:cNvPicPr>
            <a:picLocks noChangeAspect="1"/>
          </p:cNvPicPr>
          <p:nvPr/>
        </p:nvPicPr>
        <p:blipFill>
          <a:blip r:embed="rId3"/>
          <a:stretch>
            <a:fillRect/>
          </a:stretch>
        </p:blipFill>
        <p:spPr>
          <a:xfrm>
            <a:off x="1605605" y="3122413"/>
            <a:ext cx="5916464" cy="2707779"/>
          </a:xfrm>
          <a:prstGeom prst="rect">
            <a:avLst/>
          </a:prstGeom>
        </p:spPr>
      </p:pic>
      <p:sp>
        <p:nvSpPr>
          <p:cNvPr id="11" name="Text 8"/>
          <p:cNvSpPr/>
          <p:nvPr/>
        </p:nvSpPr>
        <p:spPr>
          <a:xfrm>
            <a:off x="6160040" y="5174173"/>
            <a:ext cx="1110748" cy="213976"/>
          </a:xfrm>
          <a:prstGeom prst="rect">
            <a:avLst/>
          </a:prstGeom>
          <a:noFill/>
          <a:ln/>
        </p:spPr>
        <p:txBody>
          <a:bodyPr wrap="none" lIns="0" tIns="0" rIns="0" bIns="0" rtlCol="0" anchor="t"/>
          <a:lstStyle/>
          <a:p>
            <a:pPr marL="0" indent="0" algn="ctr">
              <a:lnSpc>
                <a:spcPct val="104000"/>
              </a:lnSpc>
              <a:buNone/>
            </a:pPr>
            <a:r>
              <a:rPr lang="en-US" sz="1300" dirty="0">
                <a:solidFill>
                  <a:srgbClr val="3D3E44"/>
                </a:solidFill>
                <a:latin typeface="Montserrat Medium" pitchFamily="34" charset="0"/>
                <a:ea typeface="Montserrat Medium" pitchFamily="34" charset="-122"/>
                <a:cs typeface="Montserrat Medium" pitchFamily="34" charset="-120"/>
              </a:rPr>
              <a:t>Train/Test</a:t>
            </a:r>
            <a:endParaRPr lang="en-US" sz="1300" dirty="0"/>
          </a:p>
        </p:txBody>
      </p:sp>
      <p:sp>
        <p:nvSpPr>
          <p:cNvPr id="12" name="Text 9"/>
          <p:cNvSpPr/>
          <p:nvPr/>
        </p:nvSpPr>
        <p:spPr>
          <a:xfrm>
            <a:off x="4703808" y="5164842"/>
            <a:ext cx="1110747" cy="213976"/>
          </a:xfrm>
          <a:prstGeom prst="rect">
            <a:avLst/>
          </a:prstGeom>
          <a:noFill/>
          <a:ln/>
        </p:spPr>
        <p:txBody>
          <a:bodyPr wrap="none" lIns="0" tIns="0" rIns="0" bIns="0" rtlCol="0" anchor="t"/>
          <a:lstStyle/>
          <a:p>
            <a:pPr marL="0" indent="0" algn="ctr">
              <a:lnSpc>
                <a:spcPct val="104000"/>
              </a:lnSpc>
              <a:buNone/>
            </a:pPr>
            <a:r>
              <a:rPr lang="en-US" sz="1300" dirty="0">
                <a:solidFill>
                  <a:srgbClr val="3D3E44"/>
                </a:solidFill>
                <a:latin typeface="Montserrat Medium" pitchFamily="34" charset="0"/>
                <a:ea typeface="Montserrat Medium" pitchFamily="34" charset="-122"/>
                <a:cs typeface="Montserrat Medium" pitchFamily="34" charset="-120"/>
              </a:rPr>
              <a:t>TF-IDF</a:t>
            </a:r>
            <a:endParaRPr lang="en-US" sz="1300" dirty="0"/>
          </a:p>
        </p:txBody>
      </p:sp>
      <p:sp>
        <p:nvSpPr>
          <p:cNvPr id="13" name="Text 10"/>
          <p:cNvSpPr/>
          <p:nvPr/>
        </p:nvSpPr>
        <p:spPr>
          <a:xfrm>
            <a:off x="3276236" y="5205338"/>
            <a:ext cx="1110747" cy="213976"/>
          </a:xfrm>
          <a:prstGeom prst="rect">
            <a:avLst/>
          </a:prstGeom>
          <a:noFill/>
          <a:ln/>
        </p:spPr>
        <p:txBody>
          <a:bodyPr wrap="none" lIns="0" tIns="0" rIns="0" bIns="0" rtlCol="0" anchor="t"/>
          <a:lstStyle/>
          <a:p>
            <a:pPr marL="0" indent="0" algn="ctr">
              <a:lnSpc>
                <a:spcPct val="104000"/>
              </a:lnSpc>
              <a:buNone/>
            </a:pPr>
            <a:r>
              <a:rPr lang="en-US" sz="1300" dirty="0">
                <a:solidFill>
                  <a:srgbClr val="3D3E44"/>
                </a:solidFill>
                <a:latin typeface="Montserrat Medium" pitchFamily="34" charset="0"/>
                <a:ea typeface="Montserrat Medium" pitchFamily="34" charset="-122"/>
                <a:cs typeface="Montserrat Medium" pitchFamily="34" charset="-120"/>
              </a:rPr>
              <a:t>Clean Text</a:t>
            </a:r>
            <a:endParaRPr lang="en-US" sz="1300" dirty="0"/>
          </a:p>
        </p:txBody>
      </p:sp>
      <p:sp>
        <p:nvSpPr>
          <p:cNvPr id="14" name="Text 11"/>
          <p:cNvSpPr/>
          <p:nvPr/>
        </p:nvSpPr>
        <p:spPr>
          <a:xfrm>
            <a:off x="1885547" y="5174173"/>
            <a:ext cx="1110747" cy="213976"/>
          </a:xfrm>
          <a:prstGeom prst="rect">
            <a:avLst/>
          </a:prstGeom>
          <a:noFill/>
          <a:ln/>
        </p:spPr>
        <p:txBody>
          <a:bodyPr wrap="none" lIns="0" tIns="0" rIns="0" bIns="0" rtlCol="0" anchor="t"/>
          <a:lstStyle/>
          <a:p>
            <a:pPr marL="0" indent="0" algn="ctr">
              <a:lnSpc>
                <a:spcPct val="104000"/>
              </a:lnSpc>
              <a:buNone/>
            </a:pPr>
            <a:r>
              <a:rPr lang="en-US" sz="1300" dirty="0">
                <a:solidFill>
                  <a:srgbClr val="3D3E44"/>
                </a:solidFill>
                <a:latin typeface="Montserrat Medium" pitchFamily="34" charset="0"/>
                <a:ea typeface="Montserrat Medium" pitchFamily="34" charset="-122"/>
                <a:cs typeface="Montserrat Medium" pitchFamily="34" charset="-120"/>
              </a:rPr>
              <a:t>Raw Text</a:t>
            </a:r>
            <a:endParaRPr lang="en-US" sz="1300" dirty="0"/>
          </a:p>
        </p:txBody>
      </p:sp>
      <p:sp>
        <p:nvSpPr>
          <p:cNvPr id="15" name="Text 12"/>
          <p:cNvSpPr/>
          <p:nvPr/>
        </p:nvSpPr>
        <p:spPr>
          <a:xfrm>
            <a:off x="661475" y="5939433"/>
            <a:ext cx="10868745" cy="314920"/>
          </a:xfrm>
          <a:prstGeom prst="rect">
            <a:avLst/>
          </a:prstGeom>
          <a:noFill/>
          <a:ln/>
        </p:spPr>
        <p:txBody>
          <a:bodyPr wrap="square" lIns="0" tIns="0" rIns="0" bIns="0" rtlCol="0" anchor="t">
            <a:normAutofit/>
          </a:bodyPr>
          <a:lstStyle/>
          <a:p>
            <a:pPr marL="0" indent="0" algn="l">
              <a:lnSpc>
                <a:spcPct val="113000"/>
              </a:lnSpc>
              <a:buNone/>
            </a:pPr>
            <a:r>
              <a:rPr lang="en-US" sz="900" dirty="0">
                <a:solidFill>
                  <a:srgbClr val="3D3E44"/>
                </a:solidFill>
                <a:latin typeface="Inter Light" pitchFamily="34" charset="0"/>
                <a:ea typeface="Inter Light" pitchFamily="34" charset="-122"/>
                <a:cs typeface="Inter Light" pitchFamily="34" charset="-120"/>
              </a:rPr>
              <a:t>This pipeline ensures that raw legal text is transformed into clean, numerical representations that the ML model can effectively learn from, while the train/test split enables unbiased performance evaluation.</a:t>
            </a:r>
            <a:endParaRPr lang="en-US" sz="900" dirty="0"/>
          </a:p>
        </p:txBody>
      </p:sp>
      <p:pic>
        <p:nvPicPr>
          <p:cNvPr id="17" name="Picture 16">
            <a:extLst>
              <a:ext uri="{FF2B5EF4-FFF2-40B4-BE49-F238E27FC236}">
                <a16:creationId xmlns:a16="http://schemas.microsoft.com/office/drawing/2014/main" id="{91E0F100-A8C5-CB10-61A1-FDDA073FA953}"/>
              </a:ext>
            </a:extLst>
          </p:cNvPr>
          <p:cNvPicPr>
            <a:picLocks noChangeAspect="1"/>
          </p:cNvPicPr>
          <p:nvPr/>
        </p:nvPicPr>
        <p:blipFill>
          <a:blip r:embed="rId4"/>
          <a:stretch>
            <a:fillRect/>
          </a:stretch>
        </p:blipFill>
        <p:spPr>
          <a:xfrm>
            <a:off x="11028784" y="6491743"/>
            <a:ext cx="1163216" cy="34293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842963"/>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74767D"/>
                </a:solidFill>
                <a:latin typeface="Montserrat Medium" pitchFamily="34" charset="0"/>
                <a:ea typeface="Montserrat Medium" pitchFamily="34" charset="-122"/>
                <a:cs typeface="Montserrat Medium" pitchFamily="34" charset="-120"/>
              </a:rPr>
              <a:t>Machine Learning Model: Logistic Regression</a:t>
            </a:r>
            <a:endParaRPr lang="en-US" sz="3250" dirty="0"/>
          </a:p>
        </p:txBody>
      </p:sp>
      <p:sp>
        <p:nvSpPr>
          <p:cNvPr id="3" name="Text 1"/>
          <p:cNvSpPr/>
          <p:nvPr/>
        </p:nvSpPr>
        <p:spPr>
          <a:xfrm>
            <a:off x="661475" y="1690390"/>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D3E44"/>
                </a:solidFill>
                <a:latin typeface="Inter Light" pitchFamily="34" charset="0"/>
                <a:ea typeface="Inter Light" pitchFamily="34" charset="-122"/>
                <a:cs typeface="Inter Light" pitchFamily="34" charset="-120"/>
              </a:rPr>
              <a:t>The classification model is built on </a:t>
            </a:r>
            <a:r>
              <a:rPr lang="en-US" sz="1300" b="1" dirty="0">
                <a:solidFill>
                  <a:srgbClr val="3D3E44"/>
                </a:solidFill>
                <a:latin typeface="Inter Bold" pitchFamily="34" charset="0"/>
                <a:ea typeface="Inter Bold" pitchFamily="34" charset="-122"/>
                <a:cs typeface="Inter Bold" pitchFamily="34" charset="-120"/>
              </a:rPr>
              <a:t>Logistic Regression</a:t>
            </a:r>
            <a:r>
              <a:rPr lang="en-US" sz="1300" dirty="0">
                <a:solidFill>
                  <a:srgbClr val="3D3E44"/>
                </a:solidFill>
                <a:latin typeface="Inter Light" pitchFamily="34" charset="0"/>
                <a:ea typeface="Inter Light" pitchFamily="34" charset="-122"/>
                <a:cs typeface="Inter Light" pitchFamily="34" charset="-120"/>
              </a:rPr>
              <a:t> — a supervised ML algorithm widely used for text classification due to its speed, interpretability, and strong performance on high-dimensional sparse data like TF-IDF vectors.</a:t>
            </a:r>
            <a:endParaRPr lang="en-US" sz="13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405658"/>
            <a:ext cx="413434" cy="413445"/>
          </a:xfrm>
          <a:prstGeom prst="rect">
            <a:avLst/>
          </a:prstGeom>
        </p:spPr>
      </p:pic>
      <p:sp>
        <p:nvSpPr>
          <p:cNvPr id="5" name="Text 2"/>
          <p:cNvSpPr/>
          <p:nvPr/>
        </p:nvSpPr>
        <p:spPr>
          <a:xfrm>
            <a:off x="661475" y="3025775"/>
            <a:ext cx="5330989" cy="258465"/>
          </a:xfrm>
          <a:prstGeom prst="rect">
            <a:avLst/>
          </a:prstGeom>
          <a:noFill/>
          <a:ln/>
        </p:spPr>
        <p:txBody>
          <a:bodyPr wrap="none" lIns="0" tIns="0" rIns="0" bIns="0" rtlCol="0" anchor="t"/>
          <a:lstStyle/>
          <a:p>
            <a:pPr marL="0" indent="0" algn="l">
              <a:lnSpc>
                <a:spcPct val="104000"/>
              </a:lnSpc>
              <a:buNone/>
            </a:pPr>
            <a:r>
              <a:rPr lang="en-US" sz="1600" dirty="0">
                <a:solidFill>
                  <a:srgbClr val="3D3E44"/>
                </a:solidFill>
                <a:latin typeface="Montserrat Medium" pitchFamily="34" charset="0"/>
                <a:ea typeface="Montserrat Medium" pitchFamily="34" charset="-122"/>
                <a:cs typeface="Montserrat Medium" pitchFamily="34" charset="-120"/>
              </a:rPr>
              <a:t>Fast Training</a:t>
            </a:r>
            <a:endParaRPr lang="en-US" sz="1600" dirty="0"/>
          </a:p>
        </p:txBody>
      </p:sp>
      <p:sp>
        <p:nvSpPr>
          <p:cNvPr id="6" name="Text 3"/>
          <p:cNvSpPr/>
          <p:nvPr/>
        </p:nvSpPr>
        <p:spPr>
          <a:xfrm>
            <a:off x="661475" y="3383459"/>
            <a:ext cx="5330989"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D3E44"/>
                </a:solidFill>
                <a:latin typeface="Inter Light" pitchFamily="34" charset="0"/>
                <a:ea typeface="Inter Light" pitchFamily="34" charset="-122"/>
                <a:cs typeface="Inter Light" pitchFamily="34" charset="-120"/>
              </a:rPr>
              <a:t>Logistic Regression trains quickly even on large text datasets, enabling rapid iteration during development and testing cycles.</a:t>
            </a:r>
            <a:endParaRPr lang="en-US" sz="13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99132" y="2405658"/>
            <a:ext cx="413434" cy="413445"/>
          </a:xfrm>
          <a:prstGeom prst="rect">
            <a:avLst/>
          </a:prstGeom>
        </p:spPr>
      </p:pic>
      <p:sp>
        <p:nvSpPr>
          <p:cNvPr id="8" name="Text 4"/>
          <p:cNvSpPr/>
          <p:nvPr/>
        </p:nvSpPr>
        <p:spPr>
          <a:xfrm>
            <a:off x="6199132" y="3025775"/>
            <a:ext cx="5331089" cy="258465"/>
          </a:xfrm>
          <a:prstGeom prst="rect">
            <a:avLst/>
          </a:prstGeom>
          <a:noFill/>
          <a:ln/>
        </p:spPr>
        <p:txBody>
          <a:bodyPr wrap="none" lIns="0" tIns="0" rIns="0" bIns="0" rtlCol="0" anchor="t"/>
          <a:lstStyle/>
          <a:p>
            <a:pPr marL="0" indent="0" algn="l">
              <a:lnSpc>
                <a:spcPct val="104000"/>
              </a:lnSpc>
              <a:buNone/>
            </a:pPr>
            <a:r>
              <a:rPr lang="en-US" sz="1600" dirty="0">
                <a:solidFill>
                  <a:srgbClr val="3D3E44"/>
                </a:solidFill>
                <a:latin typeface="Montserrat Medium" pitchFamily="34" charset="0"/>
                <a:ea typeface="Montserrat Medium" pitchFamily="34" charset="-122"/>
                <a:cs typeface="Montserrat Medium" pitchFamily="34" charset="-120"/>
              </a:rPr>
              <a:t>Lightweight Model</a:t>
            </a:r>
            <a:endParaRPr lang="en-US" sz="1600" dirty="0"/>
          </a:p>
        </p:txBody>
      </p:sp>
      <p:sp>
        <p:nvSpPr>
          <p:cNvPr id="9" name="Text 5"/>
          <p:cNvSpPr/>
          <p:nvPr/>
        </p:nvSpPr>
        <p:spPr>
          <a:xfrm>
            <a:off x="6199132" y="3383459"/>
            <a:ext cx="5331089"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D3E44"/>
                </a:solidFill>
                <a:latin typeface="Inter Light" pitchFamily="34" charset="0"/>
                <a:ea typeface="Inter Light" pitchFamily="34" charset="-122"/>
                <a:cs typeface="Inter Light" pitchFamily="34" charset="-120"/>
              </a:rPr>
              <a:t>Low computational footprint makes the model suitable for deployment in resource-constrained environments or edge scenarios.</a:t>
            </a:r>
            <a:endParaRPr lang="en-US" sz="13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75" y="4508004"/>
            <a:ext cx="413434" cy="413445"/>
          </a:xfrm>
          <a:prstGeom prst="rect">
            <a:avLst/>
          </a:prstGeom>
        </p:spPr>
      </p:pic>
      <p:sp>
        <p:nvSpPr>
          <p:cNvPr id="11" name="Text 6"/>
          <p:cNvSpPr/>
          <p:nvPr/>
        </p:nvSpPr>
        <p:spPr>
          <a:xfrm>
            <a:off x="661475" y="5128121"/>
            <a:ext cx="5330989" cy="258465"/>
          </a:xfrm>
          <a:prstGeom prst="rect">
            <a:avLst/>
          </a:prstGeom>
          <a:noFill/>
          <a:ln/>
        </p:spPr>
        <p:txBody>
          <a:bodyPr wrap="none" lIns="0" tIns="0" rIns="0" bIns="0" rtlCol="0" anchor="t"/>
          <a:lstStyle/>
          <a:p>
            <a:pPr marL="0" indent="0" algn="l">
              <a:lnSpc>
                <a:spcPct val="104000"/>
              </a:lnSpc>
              <a:buNone/>
            </a:pPr>
            <a:r>
              <a:rPr lang="en-US" sz="1600" dirty="0">
                <a:solidFill>
                  <a:srgbClr val="3D3E44"/>
                </a:solidFill>
                <a:latin typeface="Montserrat Medium" pitchFamily="34" charset="0"/>
                <a:ea typeface="Montserrat Medium" pitchFamily="34" charset="-122"/>
                <a:cs typeface="Montserrat Medium" pitchFamily="34" charset="-120"/>
              </a:rPr>
              <a:t>Strong Accuracy</a:t>
            </a:r>
            <a:endParaRPr lang="en-US" sz="1600" dirty="0"/>
          </a:p>
        </p:txBody>
      </p:sp>
      <p:sp>
        <p:nvSpPr>
          <p:cNvPr id="12" name="Text 7"/>
          <p:cNvSpPr/>
          <p:nvPr/>
        </p:nvSpPr>
        <p:spPr>
          <a:xfrm>
            <a:off x="661475" y="5485805"/>
            <a:ext cx="5330989"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D3E44"/>
                </a:solidFill>
                <a:latin typeface="Inter Light" pitchFamily="34" charset="0"/>
                <a:ea typeface="Inter Light" pitchFamily="34" charset="-122"/>
                <a:cs typeface="Inter Light" pitchFamily="34" charset="-120"/>
              </a:rPr>
              <a:t>Delivers reliable classification performance across 17 legal clause categories, with interpretable probability scores for each prediction.</a:t>
            </a:r>
            <a:endParaRPr lang="en-US" sz="13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99132" y="4508004"/>
            <a:ext cx="413434" cy="413445"/>
          </a:xfrm>
          <a:prstGeom prst="rect">
            <a:avLst/>
          </a:prstGeom>
        </p:spPr>
      </p:pic>
      <p:sp>
        <p:nvSpPr>
          <p:cNvPr id="14" name="Text 8"/>
          <p:cNvSpPr/>
          <p:nvPr/>
        </p:nvSpPr>
        <p:spPr>
          <a:xfrm>
            <a:off x="6199132" y="5128121"/>
            <a:ext cx="5331089" cy="258465"/>
          </a:xfrm>
          <a:prstGeom prst="rect">
            <a:avLst/>
          </a:prstGeom>
          <a:noFill/>
          <a:ln/>
        </p:spPr>
        <p:txBody>
          <a:bodyPr wrap="none" lIns="0" tIns="0" rIns="0" bIns="0" rtlCol="0" anchor="t"/>
          <a:lstStyle/>
          <a:p>
            <a:pPr marL="0" indent="0" algn="l">
              <a:lnSpc>
                <a:spcPct val="104000"/>
              </a:lnSpc>
              <a:buNone/>
            </a:pPr>
            <a:r>
              <a:rPr lang="en-US" sz="1600" dirty="0">
                <a:solidFill>
                  <a:srgbClr val="3D3E44"/>
                </a:solidFill>
                <a:latin typeface="Montserrat Medium" pitchFamily="34" charset="0"/>
                <a:ea typeface="Montserrat Medium" pitchFamily="34" charset="-122"/>
                <a:cs typeface="Montserrat Medium" pitchFamily="34" charset="-120"/>
              </a:rPr>
              <a:t>Explainable Predictions</a:t>
            </a:r>
            <a:endParaRPr lang="en-US" sz="1600" dirty="0"/>
          </a:p>
        </p:txBody>
      </p:sp>
      <p:sp>
        <p:nvSpPr>
          <p:cNvPr id="15" name="Text 9"/>
          <p:cNvSpPr/>
          <p:nvPr/>
        </p:nvSpPr>
        <p:spPr>
          <a:xfrm>
            <a:off x="6199132" y="5485805"/>
            <a:ext cx="5331089"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D3E44"/>
                </a:solidFill>
                <a:latin typeface="Inter Light" pitchFamily="34" charset="0"/>
                <a:ea typeface="Inter Light" pitchFamily="34" charset="-122"/>
                <a:cs typeface="Inter Light" pitchFamily="34" charset="-120"/>
              </a:rPr>
              <a:t>Model coefficients provide transparency into which terms most influence each clause classification — critical for legal accountability.</a:t>
            </a:r>
            <a:endParaRPr lang="en-US" sz="1300" dirty="0"/>
          </a:p>
        </p:txBody>
      </p:sp>
      <p:pic>
        <p:nvPicPr>
          <p:cNvPr id="17" name="Picture 16">
            <a:extLst>
              <a:ext uri="{FF2B5EF4-FFF2-40B4-BE49-F238E27FC236}">
                <a16:creationId xmlns:a16="http://schemas.microsoft.com/office/drawing/2014/main" id="{20889A5D-FAF2-3E7D-3B60-0236F41D37F9}"/>
              </a:ext>
            </a:extLst>
          </p:cNvPr>
          <p:cNvPicPr>
            <a:picLocks noChangeAspect="1"/>
          </p:cNvPicPr>
          <p:nvPr/>
        </p:nvPicPr>
        <p:blipFill>
          <a:blip r:embed="rId7"/>
          <a:stretch>
            <a:fillRect/>
          </a:stretch>
        </p:blipFill>
        <p:spPr>
          <a:xfrm>
            <a:off x="11028784" y="6491743"/>
            <a:ext cx="1163216" cy="34293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484485"/>
            <a:ext cx="10868745" cy="387648"/>
          </a:xfrm>
          <a:prstGeom prst="rect">
            <a:avLst/>
          </a:prstGeom>
          <a:noFill/>
          <a:ln/>
        </p:spPr>
        <p:txBody>
          <a:bodyPr wrap="none" lIns="0" tIns="0" rIns="0" bIns="0" rtlCol="0" anchor="t"/>
          <a:lstStyle/>
          <a:p>
            <a:pPr marL="0" indent="0" algn="l">
              <a:lnSpc>
                <a:spcPct val="104000"/>
              </a:lnSpc>
              <a:buNone/>
            </a:pPr>
            <a:r>
              <a:rPr lang="en-US" sz="2400" dirty="0">
                <a:solidFill>
                  <a:srgbClr val="74767D"/>
                </a:solidFill>
                <a:latin typeface="Montserrat Medium" pitchFamily="34" charset="0"/>
                <a:ea typeface="Montserrat Medium" pitchFamily="34" charset="-122"/>
                <a:cs typeface="Montserrat Medium" pitchFamily="34" charset="-120"/>
              </a:rPr>
              <a:t>End-to-End System Workflow</a:t>
            </a:r>
            <a:endParaRPr lang="en-US" sz="2400" dirty="0"/>
          </a:p>
        </p:txBody>
      </p:sp>
      <p:sp>
        <p:nvSpPr>
          <p:cNvPr id="3" name="Text 1"/>
          <p:cNvSpPr/>
          <p:nvPr/>
        </p:nvSpPr>
        <p:spPr>
          <a:xfrm>
            <a:off x="661475" y="1058168"/>
            <a:ext cx="11478330" cy="173633"/>
          </a:xfrm>
          <a:prstGeom prst="rect">
            <a:avLst/>
          </a:prstGeom>
          <a:noFill/>
          <a:ln/>
        </p:spPr>
        <p:txBody>
          <a:bodyPr wrap="none" lIns="0" tIns="0" rIns="0" bIns="0" rtlCol="0" anchor="t"/>
          <a:lstStyle/>
          <a:p>
            <a:pPr marL="0" indent="0" algn="l">
              <a:lnSpc>
                <a:spcPct val="117000"/>
              </a:lnSpc>
              <a:buNone/>
            </a:pPr>
            <a:r>
              <a:rPr lang="en-US" sz="950" dirty="0">
                <a:solidFill>
                  <a:srgbClr val="3D3E44"/>
                </a:solidFill>
                <a:latin typeface="Inter Light" pitchFamily="34" charset="0"/>
                <a:ea typeface="Inter Light" pitchFamily="34" charset="-122"/>
                <a:cs typeface="Inter Light" pitchFamily="34" charset="-120"/>
              </a:rPr>
              <a:t>The system processes each contract clause through a structured six-step pipeline, delivering intelligent analysis in seconds.</a:t>
            </a:r>
            <a:endParaRPr lang="en-US" sz="950" dirty="0"/>
          </a:p>
        </p:txBody>
      </p:sp>
      <p:sp>
        <p:nvSpPr>
          <p:cNvPr id="5" name="Text 2"/>
          <p:cNvSpPr/>
          <p:nvPr/>
        </p:nvSpPr>
        <p:spPr>
          <a:xfrm>
            <a:off x="661475" y="6026249"/>
            <a:ext cx="10868745" cy="347266"/>
          </a:xfrm>
          <a:prstGeom prst="rect">
            <a:avLst/>
          </a:prstGeom>
          <a:noFill/>
          <a:ln/>
        </p:spPr>
        <p:txBody>
          <a:bodyPr wrap="square" lIns="0" tIns="0" rIns="0" bIns="0" rtlCol="0" anchor="t">
            <a:normAutofit/>
          </a:bodyPr>
          <a:lstStyle/>
          <a:p>
            <a:pPr marL="0" indent="0" algn="l">
              <a:lnSpc>
                <a:spcPct val="117000"/>
              </a:lnSpc>
              <a:buNone/>
            </a:pPr>
            <a:r>
              <a:rPr lang="en-US" sz="1000" dirty="0">
                <a:solidFill>
                  <a:srgbClr val="3D3E44"/>
                </a:solidFill>
                <a:latin typeface="Inter Light" pitchFamily="34" charset="0"/>
                <a:ea typeface="Inter Light" pitchFamily="34" charset="-122"/>
                <a:cs typeface="Inter Light" pitchFamily="34" charset="-120"/>
              </a:rPr>
              <a:t>This streamlined workflow enables legal professionals to receive structured, explainable contract analysis without requiring deep ML expertise — the system handles all complexity behind a simple text input interface.</a:t>
            </a:r>
            <a:endParaRPr lang="en-US" sz="1000" dirty="0"/>
          </a:p>
        </p:txBody>
      </p:sp>
      <p:pic>
        <p:nvPicPr>
          <p:cNvPr id="7" name="Picture 6">
            <a:extLst>
              <a:ext uri="{FF2B5EF4-FFF2-40B4-BE49-F238E27FC236}">
                <a16:creationId xmlns:a16="http://schemas.microsoft.com/office/drawing/2014/main" id="{EA1DE635-9FC8-8656-4F1E-CAD328B21F02}"/>
              </a:ext>
            </a:extLst>
          </p:cNvPr>
          <p:cNvPicPr>
            <a:picLocks noChangeAspect="1"/>
          </p:cNvPicPr>
          <p:nvPr/>
        </p:nvPicPr>
        <p:blipFill>
          <a:blip r:embed="rId3"/>
          <a:stretch>
            <a:fillRect/>
          </a:stretch>
        </p:blipFill>
        <p:spPr>
          <a:xfrm>
            <a:off x="11028784" y="6491743"/>
            <a:ext cx="1163216" cy="342930"/>
          </a:xfrm>
          <a:prstGeom prst="rect">
            <a:avLst/>
          </a:prstGeom>
        </p:spPr>
      </p:pic>
      <p:pic>
        <p:nvPicPr>
          <p:cNvPr id="11" name="Picture 10">
            <a:extLst>
              <a:ext uri="{FF2B5EF4-FFF2-40B4-BE49-F238E27FC236}">
                <a16:creationId xmlns:a16="http://schemas.microsoft.com/office/drawing/2014/main" id="{2193B5A7-9DA9-2601-7EA6-01719675E59F}"/>
              </a:ext>
            </a:extLst>
          </p:cNvPr>
          <p:cNvPicPr>
            <a:picLocks noChangeAspect="1"/>
          </p:cNvPicPr>
          <p:nvPr/>
        </p:nvPicPr>
        <p:blipFill>
          <a:blip r:embed="rId4"/>
          <a:stretch>
            <a:fillRect/>
          </a:stretch>
        </p:blipFill>
        <p:spPr>
          <a:xfrm>
            <a:off x="1158240" y="1417836"/>
            <a:ext cx="8945880" cy="392148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611684"/>
            <a:ext cx="10868745" cy="432395"/>
          </a:xfrm>
          <a:prstGeom prst="rect">
            <a:avLst/>
          </a:prstGeom>
          <a:noFill/>
          <a:ln/>
        </p:spPr>
        <p:txBody>
          <a:bodyPr wrap="none" lIns="0" tIns="0" rIns="0" bIns="0" rtlCol="0" anchor="t"/>
          <a:lstStyle/>
          <a:p>
            <a:pPr marL="0" indent="0" algn="l">
              <a:lnSpc>
                <a:spcPct val="104000"/>
              </a:lnSpc>
              <a:buNone/>
            </a:pPr>
            <a:r>
              <a:rPr lang="en-US" sz="2700" dirty="0">
                <a:solidFill>
                  <a:srgbClr val="74767D"/>
                </a:solidFill>
                <a:latin typeface="Montserrat Medium" pitchFamily="34" charset="0"/>
                <a:ea typeface="Montserrat Medium" pitchFamily="34" charset="-122"/>
                <a:cs typeface="Montserrat Medium" pitchFamily="34" charset="-120"/>
              </a:rPr>
              <a:t>Results &amp; Model Performance</a:t>
            </a:r>
            <a:endParaRPr lang="en-US" sz="2700" dirty="0"/>
          </a:p>
        </p:txBody>
      </p:sp>
      <p:sp>
        <p:nvSpPr>
          <p:cNvPr id="3" name="Shape 1"/>
          <p:cNvSpPr/>
          <p:nvPr/>
        </p:nvSpPr>
        <p:spPr>
          <a:xfrm>
            <a:off x="561862" y="1217712"/>
            <a:ext cx="5464832" cy="3133527"/>
          </a:xfrm>
          <a:prstGeom prst="roundRect">
            <a:avLst>
              <a:gd name="adj" fmla="val 6359"/>
            </a:avLst>
          </a:prstGeom>
          <a:solidFill>
            <a:srgbClr val="C6C9DC"/>
          </a:solidFill>
          <a:ln/>
        </p:spPr>
      </p:sp>
      <p:sp>
        <p:nvSpPr>
          <p:cNvPr id="4" name="Text 2"/>
          <p:cNvSpPr/>
          <p:nvPr/>
        </p:nvSpPr>
        <p:spPr>
          <a:xfrm>
            <a:off x="907580" y="1676916"/>
            <a:ext cx="5188217" cy="216098"/>
          </a:xfrm>
          <a:prstGeom prst="rect">
            <a:avLst/>
          </a:prstGeom>
          <a:noFill/>
          <a:ln/>
        </p:spPr>
        <p:txBody>
          <a:bodyPr wrap="none" lIns="0" tIns="0" rIns="0" bIns="0" rtlCol="0" anchor="t"/>
          <a:lstStyle/>
          <a:p>
            <a:pPr marL="0" indent="0" algn="l">
              <a:lnSpc>
                <a:spcPct val="104000"/>
              </a:lnSpc>
              <a:buNone/>
            </a:pPr>
            <a:r>
              <a:rPr lang="en-US" sz="1350" dirty="0">
                <a:solidFill>
                  <a:srgbClr val="000000"/>
                </a:solidFill>
                <a:latin typeface="Montserrat Medium" pitchFamily="34" charset="0"/>
                <a:ea typeface="Montserrat Medium" pitchFamily="34" charset="-122"/>
                <a:cs typeface="Montserrat Medium" pitchFamily="34" charset="-120"/>
              </a:rPr>
              <a:t>Overall Accuracy</a:t>
            </a:r>
            <a:endParaRPr lang="en-US" sz="1350" dirty="0"/>
          </a:p>
        </p:txBody>
      </p:sp>
      <p:sp>
        <p:nvSpPr>
          <p:cNvPr id="5" name="Text 3"/>
          <p:cNvSpPr/>
          <p:nvPr/>
        </p:nvSpPr>
        <p:spPr>
          <a:xfrm>
            <a:off x="926681" y="2030313"/>
            <a:ext cx="5188217" cy="596801"/>
          </a:xfrm>
          <a:prstGeom prst="rect">
            <a:avLst/>
          </a:prstGeom>
          <a:noFill/>
          <a:ln/>
        </p:spPr>
        <p:txBody>
          <a:bodyPr wrap="none" lIns="0" tIns="0" rIns="0" bIns="0" rtlCol="0" anchor="t"/>
          <a:lstStyle/>
          <a:p>
            <a:pPr marL="0" indent="0" algn="l">
              <a:lnSpc>
                <a:spcPct val="104000"/>
              </a:lnSpc>
              <a:buNone/>
            </a:pPr>
            <a:r>
              <a:rPr lang="en-US" sz="3750" dirty="0">
                <a:solidFill>
                  <a:srgbClr val="000000"/>
                </a:solidFill>
                <a:latin typeface="Montserrat Medium" pitchFamily="34" charset="0"/>
                <a:ea typeface="Montserrat Medium" pitchFamily="34" charset="-122"/>
                <a:cs typeface="Montserrat Medium" pitchFamily="34" charset="-120"/>
              </a:rPr>
              <a:t>88.24%</a:t>
            </a:r>
            <a:endParaRPr lang="en-US" sz="3750" dirty="0"/>
          </a:p>
        </p:txBody>
      </p:sp>
      <p:sp>
        <p:nvSpPr>
          <p:cNvPr id="6" name="Text 4"/>
          <p:cNvSpPr/>
          <p:nvPr/>
        </p:nvSpPr>
        <p:spPr>
          <a:xfrm>
            <a:off x="700169" y="3207346"/>
            <a:ext cx="5188217" cy="406598"/>
          </a:xfrm>
          <a:prstGeom prst="rect">
            <a:avLst/>
          </a:prstGeom>
          <a:noFill/>
          <a:ln/>
        </p:spPr>
        <p:txBody>
          <a:bodyPr wrap="square" lIns="0" tIns="0" rIns="0" bIns="0" rtlCol="0" anchor="t">
            <a:normAutofit/>
          </a:bodyPr>
          <a:lstStyle/>
          <a:p>
            <a:pPr marL="0" indent="0" algn="l">
              <a:lnSpc>
                <a:spcPct val="122000"/>
              </a:lnSpc>
              <a:buNone/>
            </a:pPr>
            <a:r>
              <a:rPr lang="en-US" sz="1050" dirty="0">
                <a:solidFill>
                  <a:srgbClr val="3D3E44"/>
                </a:solidFill>
                <a:latin typeface="Inter Light" pitchFamily="34" charset="0"/>
                <a:ea typeface="Inter Light" pitchFamily="34" charset="-122"/>
                <a:cs typeface="Inter Light" pitchFamily="34" charset="-120"/>
              </a:rPr>
              <a:t>Achieved on the held-out testing dataset from CUAD, demonstrating strong generalization across diverse contract types and legal domains.</a:t>
            </a:r>
            <a:endParaRPr lang="en-US" sz="1050" dirty="0"/>
          </a:p>
        </p:txBody>
      </p:sp>
      <p:sp>
        <p:nvSpPr>
          <p:cNvPr id="7" name="Text 5"/>
          <p:cNvSpPr/>
          <p:nvPr/>
        </p:nvSpPr>
        <p:spPr>
          <a:xfrm>
            <a:off x="6270964" y="1333500"/>
            <a:ext cx="5265606" cy="216098"/>
          </a:xfrm>
          <a:prstGeom prst="rect">
            <a:avLst/>
          </a:prstGeom>
          <a:noFill/>
          <a:ln/>
        </p:spPr>
        <p:txBody>
          <a:bodyPr wrap="none" lIns="0" tIns="0" rIns="0" bIns="0" rtlCol="0" anchor="t"/>
          <a:lstStyle/>
          <a:p>
            <a:pPr marL="0" indent="0" algn="l">
              <a:lnSpc>
                <a:spcPct val="104000"/>
              </a:lnSpc>
              <a:buNone/>
            </a:pPr>
            <a:r>
              <a:rPr lang="en-US" sz="1350" dirty="0">
                <a:solidFill>
                  <a:srgbClr val="74767D"/>
                </a:solidFill>
                <a:latin typeface="Montserrat Medium" pitchFamily="34" charset="0"/>
                <a:ea typeface="Montserrat Medium" pitchFamily="34" charset="-122"/>
                <a:cs typeface="Montserrat Medium" pitchFamily="34" charset="-120"/>
              </a:rPr>
              <a:t>Evaluation Metrics Used</a:t>
            </a:r>
            <a:endParaRPr lang="en-US" sz="1350" dirty="0"/>
          </a:p>
        </p:txBody>
      </p:sp>
      <p:sp>
        <p:nvSpPr>
          <p:cNvPr id="8" name="Text 6"/>
          <p:cNvSpPr/>
          <p:nvPr/>
        </p:nvSpPr>
        <p:spPr>
          <a:xfrm>
            <a:off x="6270964" y="1665387"/>
            <a:ext cx="5265606" cy="406598"/>
          </a:xfrm>
          <a:prstGeom prst="rect">
            <a:avLst/>
          </a:prstGeom>
          <a:noFill/>
          <a:ln/>
        </p:spPr>
        <p:txBody>
          <a:bodyPr wrap="square" lIns="0" tIns="0" rIns="0" bIns="0" rtlCol="0" anchor="t">
            <a:normAutofit/>
          </a:bodyPr>
          <a:lstStyle/>
          <a:p>
            <a:pPr marL="0" indent="0" algn="l">
              <a:lnSpc>
                <a:spcPct val="122000"/>
              </a:lnSpc>
              <a:buNone/>
            </a:pPr>
            <a:r>
              <a:rPr lang="en-US" sz="1050" dirty="0">
                <a:solidFill>
                  <a:srgbClr val="3D3E44"/>
                </a:solidFill>
                <a:latin typeface="Inter Light" pitchFamily="34" charset="0"/>
                <a:ea typeface="Inter Light" pitchFamily="34" charset="-122"/>
                <a:cs typeface="Inter Light" pitchFamily="34" charset="-120"/>
              </a:rPr>
              <a:t>Model quality was assessed using a comprehensive set of standard classification metrics:</a:t>
            </a:r>
            <a:endParaRPr lang="en-US" sz="1050" dirty="0"/>
          </a:p>
        </p:txBody>
      </p:sp>
      <p:sp>
        <p:nvSpPr>
          <p:cNvPr id="9" name="Shape 7"/>
          <p:cNvSpPr/>
          <p:nvPr/>
        </p:nvSpPr>
        <p:spPr>
          <a:xfrm>
            <a:off x="6270964" y="2202160"/>
            <a:ext cx="2574861" cy="849908"/>
          </a:xfrm>
          <a:prstGeom prst="roundRect">
            <a:avLst>
              <a:gd name="adj" fmla="val 14654"/>
            </a:avLst>
          </a:prstGeom>
          <a:solidFill>
            <a:srgbClr val="FFFFFF"/>
          </a:solidFill>
          <a:ln w="19050">
            <a:solidFill>
              <a:srgbClr val="C5C7D2"/>
            </a:solidFill>
            <a:prstDash val="solid"/>
          </a:ln>
        </p:spPr>
      </p:sp>
      <p:sp>
        <p:nvSpPr>
          <p:cNvPr id="10" name="Text 8"/>
          <p:cNvSpPr/>
          <p:nvPr/>
        </p:nvSpPr>
        <p:spPr>
          <a:xfrm>
            <a:off x="6428321" y="2359521"/>
            <a:ext cx="2260147" cy="216098"/>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Accuracy</a:t>
            </a:r>
            <a:endParaRPr lang="en-US" sz="1350" dirty="0"/>
          </a:p>
        </p:txBody>
      </p:sp>
      <p:sp>
        <p:nvSpPr>
          <p:cNvPr id="11" name="Text 9"/>
          <p:cNvSpPr/>
          <p:nvPr/>
        </p:nvSpPr>
        <p:spPr>
          <a:xfrm>
            <a:off x="6428321" y="2691408"/>
            <a:ext cx="2260147" cy="203299"/>
          </a:xfrm>
          <a:prstGeom prst="rect">
            <a:avLst/>
          </a:prstGeom>
          <a:noFill/>
          <a:ln/>
        </p:spPr>
        <p:txBody>
          <a:bodyPr wrap="none" lIns="0" tIns="0" rIns="0" bIns="0" rtlCol="0" anchor="t"/>
          <a:lstStyle/>
          <a:p>
            <a:pPr marL="0" indent="0" algn="l">
              <a:lnSpc>
                <a:spcPct val="122000"/>
              </a:lnSpc>
              <a:buNone/>
            </a:pPr>
            <a:r>
              <a:rPr lang="en-US" sz="1050" dirty="0">
                <a:solidFill>
                  <a:srgbClr val="3D3E44"/>
                </a:solidFill>
                <a:latin typeface="Inter Light" pitchFamily="34" charset="0"/>
                <a:ea typeface="Inter Light" pitchFamily="34" charset="-122"/>
                <a:cs typeface="Inter Light" pitchFamily="34" charset="-120"/>
              </a:rPr>
              <a:t>Overall correctness of predictions</a:t>
            </a:r>
            <a:endParaRPr lang="en-US" sz="1050" dirty="0"/>
          </a:p>
        </p:txBody>
      </p:sp>
      <p:sp>
        <p:nvSpPr>
          <p:cNvPr id="12" name="Shape 10"/>
          <p:cNvSpPr/>
          <p:nvPr/>
        </p:nvSpPr>
        <p:spPr>
          <a:xfrm>
            <a:off x="8961610" y="2202160"/>
            <a:ext cx="2574960" cy="849908"/>
          </a:xfrm>
          <a:prstGeom prst="roundRect">
            <a:avLst>
              <a:gd name="adj" fmla="val 14654"/>
            </a:avLst>
          </a:prstGeom>
          <a:solidFill>
            <a:srgbClr val="FFFFFF"/>
          </a:solidFill>
          <a:ln w="19050">
            <a:solidFill>
              <a:srgbClr val="C5C7D2"/>
            </a:solidFill>
            <a:prstDash val="solid"/>
          </a:ln>
        </p:spPr>
      </p:sp>
      <p:sp>
        <p:nvSpPr>
          <p:cNvPr id="13" name="Text 11"/>
          <p:cNvSpPr/>
          <p:nvPr/>
        </p:nvSpPr>
        <p:spPr>
          <a:xfrm>
            <a:off x="9118967" y="2359521"/>
            <a:ext cx="2260246" cy="216098"/>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Precision</a:t>
            </a:r>
            <a:endParaRPr lang="en-US" sz="1350" dirty="0"/>
          </a:p>
        </p:txBody>
      </p:sp>
      <p:sp>
        <p:nvSpPr>
          <p:cNvPr id="14" name="Text 12"/>
          <p:cNvSpPr/>
          <p:nvPr/>
        </p:nvSpPr>
        <p:spPr>
          <a:xfrm>
            <a:off x="9118967" y="2691408"/>
            <a:ext cx="2260246" cy="203299"/>
          </a:xfrm>
          <a:prstGeom prst="rect">
            <a:avLst/>
          </a:prstGeom>
          <a:noFill/>
          <a:ln/>
        </p:spPr>
        <p:txBody>
          <a:bodyPr wrap="none" lIns="0" tIns="0" rIns="0" bIns="0" rtlCol="0" anchor="t"/>
          <a:lstStyle/>
          <a:p>
            <a:pPr marL="0" indent="0" algn="l">
              <a:lnSpc>
                <a:spcPct val="122000"/>
              </a:lnSpc>
              <a:buNone/>
            </a:pPr>
            <a:r>
              <a:rPr lang="en-US" sz="1050" dirty="0">
                <a:solidFill>
                  <a:srgbClr val="3D3E44"/>
                </a:solidFill>
                <a:latin typeface="Inter Light" pitchFamily="34" charset="0"/>
                <a:ea typeface="Inter Light" pitchFamily="34" charset="-122"/>
                <a:cs typeface="Inter Light" pitchFamily="34" charset="-120"/>
              </a:rPr>
              <a:t>Correctness of positive predictions</a:t>
            </a:r>
            <a:endParaRPr lang="en-US" sz="1050" dirty="0"/>
          </a:p>
        </p:txBody>
      </p:sp>
      <p:sp>
        <p:nvSpPr>
          <p:cNvPr id="15" name="Shape 13"/>
          <p:cNvSpPr/>
          <p:nvPr/>
        </p:nvSpPr>
        <p:spPr>
          <a:xfrm>
            <a:off x="6270964" y="3167856"/>
            <a:ext cx="2574861" cy="1053207"/>
          </a:xfrm>
          <a:prstGeom prst="roundRect">
            <a:avLst>
              <a:gd name="adj" fmla="val 11826"/>
            </a:avLst>
          </a:prstGeom>
          <a:solidFill>
            <a:srgbClr val="FFFFFF"/>
          </a:solidFill>
          <a:ln w="19050">
            <a:solidFill>
              <a:srgbClr val="C5C7D2"/>
            </a:solidFill>
            <a:prstDash val="solid"/>
          </a:ln>
        </p:spPr>
      </p:sp>
      <p:sp>
        <p:nvSpPr>
          <p:cNvPr id="16" name="Text 14"/>
          <p:cNvSpPr/>
          <p:nvPr/>
        </p:nvSpPr>
        <p:spPr>
          <a:xfrm>
            <a:off x="6428321" y="3325217"/>
            <a:ext cx="2260147" cy="216098"/>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Recall</a:t>
            </a:r>
            <a:endParaRPr lang="en-US" sz="1350" dirty="0"/>
          </a:p>
        </p:txBody>
      </p:sp>
      <p:sp>
        <p:nvSpPr>
          <p:cNvPr id="17" name="Text 15"/>
          <p:cNvSpPr/>
          <p:nvPr/>
        </p:nvSpPr>
        <p:spPr>
          <a:xfrm>
            <a:off x="6428321" y="3657104"/>
            <a:ext cx="2260147" cy="203299"/>
          </a:xfrm>
          <a:prstGeom prst="rect">
            <a:avLst/>
          </a:prstGeom>
          <a:noFill/>
          <a:ln/>
        </p:spPr>
        <p:txBody>
          <a:bodyPr wrap="none" lIns="0" tIns="0" rIns="0" bIns="0" rtlCol="0" anchor="t"/>
          <a:lstStyle/>
          <a:p>
            <a:pPr marL="0" indent="0" algn="l">
              <a:lnSpc>
                <a:spcPct val="122000"/>
              </a:lnSpc>
              <a:buNone/>
            </a:pPr>
            <a:r>
              <a:rPr lang="en-US" sz="1050" dirty="0">
                <a:solidFill>
                  <a:srgbClr val="3D3E44"/>
                </a:solidFill>
                <a:latin typeface="Inter Light" pitchFamily="34" charset="0"/>
                <a:ea typeface="Inter Light" pitchFamily="34" charset="-122"/>
                <a:cs typeface="Inter Light" pitchFamily="34" charset="-120"/>
              </a:rPr>
              <a:t>Completeness of detected clauses</a:t>
            </a:r>
            <a:endParaRPr lang="en-US" sz="1050" dirty="0"/>
          </a:p>
        </p:txBody>
      </p:sp>
      <p:sp>
        <p:nvSpPr>
          <p:cNvPr id="18" name="Shape 16"/>
          <p:cNvSpPr/>
          <p:nvPr/>
        </p:nvSpPr>
        <p:spPr>
          <a:xfrm>
            <a:off x="8961610" y="3167856"/>
            <a:ext cx="2574960" cy="1053207"/>
          </a:xfrm>
          <a:prstGeom prst="roundRect">
            <a:avLst>
              <a:gd name="adj" fmla="val 11826"/>
            </a:avLst>
          </a:prstGeom>
          <a:solidFill>
            <a:srgbClr val="FFFFFF"/>
          </a:solidFill>
          <a:ln w="19050">
            <a:solidFill>
              <a:srgbClr val="C5C7D2"/>
            </a:solidFill>
            <a:prstDash val="solid"/>
          </a:ln>
        </p:spPr>
      </p:sp>
      <p:sp>
        <p:nvSpPr>
          <p:cNvPr id="19" name="Text 17"/>
          <p:cNvSpPr/>
          <p:nvPr/>
        </p:nvSpPr>
        <p:spPr>
          <a:xfrm>
            <a:off x="9118967" y="3325217"/>
            <a:ext cx="2260246" cy="216098"/>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F1-Score</a:t>
            </a:r>
            <a:endParaRPr lang="en-US" sz="1350" dirty="0"/>
          </a:p>
        </p:txBody>
      </p:sp>
      <p:sp>
        <p:nvSpPr>
          <p:cNvPr id="20" name="Text 18"/>
          <p:cNvSpPr/>
          <p:nvPr/>
        </p:nvSpPr>
        <p:spPr>
          <a:xfrm>
            <a:off x="9118967" y="3657104"/>
            <a:ext cx="2260246" cy="406598"/>
          </a:xfrm>
          <a:prstGeom prst="rect">
            <a:avLst/>
          </a:prstGeom>
          <a:noFill/>
          <a:ln/>
        </p:spPr>
        <p:txBody>
          <a:bodyPr wrap="square" lIns="0" tIns="0" rIns="0" bIns="0" rtlCol="0" anchor="t">
            <a:normAutofit/>
          </a:bodyPr>
          <a:lstStyle/>
          <a:p>
            <a:pPr marL="0" indent="0" algn="l">
              <a:lnSpc>
                <a:spcPct val="122000"/>
              </a:lnSpc>
              <a:buNone/>
            </a:pPr>
            <a:r>
              <a:rPr lang="en-US" sz="1050" dirty="0">
                <a:solidFill>
                  <a:srgbClr val="3D3E44"/>
                </a:solidFill>
                <a:latin typeface="Inter Light" pitchFamily="34" charset="0"/>
                <a:ea typeface="Inter Light" pitchFamily="34" charset="-122"/>
                <a:cs typeface="Inter Light" pitchFamily="34" charset="-120"/>
              </a:rPr>
              <a:t>Harmonic mean of precision and recall</a:t>
            </a:r>
            <a:endParaRPr lang="en-US" sz="1050" dirty="0"/>
          </a:p>
        </p:txBody>
      </p:sp>
      <p:sp>
        <p:nvSpPr>
          <p:cNvPr id="21" name="Text 19"/>
          <p:cNvSpPr/>
          <p:nvPr/>
        </p:nvSpPr>
        <p:spPr>
          <a:xfrm>
            <a:off x="661475" y="4524871"/>
            <a:ext cx="10868745" cy="216098"/>
          </a:xfrm>
          <a:prstGeom prst="rect">
            <a:avLst/>
          </a:prstGeom>
          <a:noFill/>
          <a:ln/>
        </p:spPr>
        <p:txBody>
          <a:bodyPr wrap="none" lIns="0" tIns="0" rIns="0" bIns="0" rtlCol="0" anchor="t"/>
          <a:lstStyle/>
          <a:p>
            <a:pPr marL="0" indent="0" algn="l">
              <a:lnSpc>
                <a:spcPct val="104000"/>
              </a:lnSpc>
              <a:buNone/>
            </a:pPr>
            <a:r>
              <a:rPr lang="en-US" sz="1350" dirty="0">
                <a:solidFill>
                  <a:srgbClr val="74767D"/>
                </a:solidFill>
                <a:latin typeface="Montserrat Medium" pitchFamily="34" charset="0"/>
                <a:ea typeface="Montserrat Medium" pitchFamily="34" charset="-122"/>
                <a:cs typeface="Montserrat Medium" pitchFamily="34" charset="-120"/>
              </a:rPr>
              <a:t>Top-Performing Clause Categories</a:t>
            </a:r>
            <a:endParaRPr lang="en-US" sz="1350" dirty="0"/>
          </a:p>
        </p:txBody>
      </p:sp>
      <p:sp>
        <p:nvSpPr>
          <p:cNvPr id="22" name="Shape 20"/>
          <p:cNvSpPr/>
          <p:nvPr/>
        </p:nvSpPr>
        <p:spPr>
          <a:xfrm>
            <a:off x="661475" y="4914602"/>
            <a:ext cx="10868745" cy="998141"/>
          </a:xfrm>
          <a:prstGeom prst="roundRect">
            <a:avLst>
              <a:gd name="adj" fmla="val 12478"/>
            </a:avLst>
          </a:prstGeom>
          <a:solidFill>
            <a:srgbClr val="EFF0F6"/>
          </a:solidFill>
          <a:ln w="6350">
            <a:solidFill>
              <a:srgbClr val="C5C7D2"/>
            </a:solidFill>
            <a:prstDash val="solid"/>
          </a:ln>
        </p:spPr>
      </p:sp>
      <p:sp>
        <p:nvSpPr>
          <p:cNvPr id="23" name="Shape 21"/>
          <p:cNvSpPr/>
          <p:nvPr/>
        </p:nvSpPr>
        <p:spPr>
          <a:xfrm>
            <a:off x="667825" y="4920952"/>
            <a:ext cx="3618616" cy="492720"/>
          </a:xfrm>
          <a:custGeom>
            <a:avLst/>
            <a:gdLst/>
            <a:ahLst/>
            <a:cxnLst/>
            <a:rect l="l" t="t" r="r" b="b"/>
            <a:pathLst>
              <a:path w="3618616" h="492720">
                <a:moveTo>
                  <a:pt x="103789" y="0"/>
                </a:moveTo>
                <a:lnTo>
                  <a:pt x="3618616" y="0"/>
                </a:lnTo>
                <a:lnTo>
                  <a:pt x="3618616" y="492720"/>
                </a:lnTo>
                <a:lnTo>
                  <a:pt x="0" y="492720"/>
                </a:lnTo>
                <a:lnTo>
                  <a:pt x="0" y="103792"/>
                </a:lnTo>
                <a:arcTo wR="103789" hR="103792" stAng="10800000" swAng="5400000"/>
                <a:close/>
              </a:path>
            </a:pathLst>
          </a:custGeom>
          <a:solidFill>
            <a:srgbClr val="EFF0F6"/>
          </a:solidFill>
          <a:ln/>
        </p:spPr>
      </p:sp>
      <p:sp>
        <p:nvSpPr>
          <p:cNvPr id="24" name="Text 22"/>
          <p:cNvSpPr/>
          <p:nvPr/>
        </p:nvSpPr>
        <p:spPr>
          <a:xfrm>
            <a:off x="806132" y="5059263"/>
            <a:ext cx="3342001" cy="216098"/>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Confidentiality</a:t>
            </a:r>
            <a:endParaRPr lang="en-US" sz="1350" dirty="0"/>
          </a:p>
        </p:txBody>
      </p:sp>
      <p:sp>
        <p:nvSpPr>
          <p:cNvPr id="25" name="Shape 23"/>
          <p:cNvSpPr/>
          <p:nvPr/>
        </p:nvSpPr>
        <p:spPr>
          <a:xfrm>
            <a:off x="4286440" y="4920952"/>
            <a:ext cx="3618715" cy="492720"/>
          </a:xfrm>
          <a:prstGeom prst="rect">
            <a:avLst/>
          </a:prstGeom>
          <a:solidFill>
            <a:srgbClr val="EFF0F6"/>
          </a:solidFill>
          <a:ln/>
        </p:spPr>
      </p:sp>
      <p:sp>
        <p:nvSpPr>
          <p:cNvPr id="26" name="Shape 24"/>
          <p:cNvSpPr/>
          <p:nvPr/>
        </p:nvSpPr>
        <p:spPr>
          <a:xfrm>
            <a:off x="4286440" y="4920952"/>
            <a:ext cx="19050" cy="492720"/>
          </a:xfrm>
          <a:prstGeom prst="roundRect">
            <a:avLst>
              <a:gd name="adj" fmla="val 49999"/>
            </a:avLst>
          </a:prstGeom>
          <a:solidFill>
            <a:srgbClr val="C5C7D2"/>
          </a:solidFill>
          <a:ln/>
        </p:spPr>
      </p:sp>
      <p:sp>
        <p:nvSpPr>
          <p:cNvPr id="27" name="Text 25"/>
          <p:cNvSpPr/>
          <p:nvPr/>
        </p:nvSpPr>
        <p:spPr>
          <a:xfrm>
            <a:off x="4424748" y="5059263"/>
            <a:ext cx="3342100" cy="216098"/>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Liability</a:t>
            </a:r>
            <a:endParaRPr lang="en-US" sz="1350" dirty="0"/>
          </a:p>
        </p:txBody>
      </p:sp>
      <p:sp>
        <p:nvSpPr>
          <p:cNvPr id="28" name="Shape 26"/>
          <p:cNvSpPr/>
          <p:nvPr/>
        </p:nvSpPr>
        <p:spPr>
          <a:xfrm>
            <a:off x="7905155" y="4920952"/>
            <a:ext cx="3618715" cy="492720"/>
          </a:xfrm>
          <a:custGeom>
            <a:avLst/>
            <a:gdLst/>
            <a:ahLst/>
            <a:cxnLst/>
            <a:rect l="l" t="t" r="r" b="b"/>
            <a:pathLst>
              <a:path w="3618715" h="492720">
                <a:moveTo>
                  <a:pt x="0" y="0"/>
                </a:moveTo>
                <a:lnTo>
                  <a:pt x="3514926" y="0"/>
                </a:lnTo>
                <a:arcTo wR="103789" hR="103792" stAng="16200000" swAng="5400000"/>
                <a:lnTo>
                  <a:pt x="3618715" y="492720"/>
                </a:lnTo>
                <a:lnTo>
                  <a:pt x="0" y="492720"/>
                </a:lnTo>
                <a:lnTo>
                  <a:pt x="0" y="0"/>
                </a:lnTo>
                <a:close/>
              </a:path>
            </a:pathLst>
          </a:custGeom>
          <a:solidFill>
            <a:srgbClr val="EFF0F6"/>
          </a:solidFill>
          <a:ln/>
        </p:spPr>
      </p:sp>
      <p:sp>
        <p:nvSpPr>
          <p:cNvPr id="29" name="Shape 27"/>
          <p:cNvSpPr/>
          <p:nvPr/>
        </p:nvSpPr>
        <p:spPr>
          <a:xfrm>
            <a:off x="7905155" y="4920952"/>
            <a:ext cx="19050" cy="492720"/>
          </a:xfrm>
          <a:prstGeom prst="roundRect">
            <a:avLst>
              <a:gd name="adj" fmla="val 49999"/>
            </a:avLst>
          </a:prstGeom>
          <a:solidFill>
            <a:srgbClr val="C5C7D2"/>
          </a:solidFill>
          <a:ln/>
        </p:spPr>
      </p:sp>
      <p:sp>
        <p:nvSpPr>
          <p:cNvPr id="30" name="Text 28"/>
          <p:cNvSpPr/>
          <p:nvPr/>
        </p:nvSpPr>
        <p:spPr>
          <a:xfrm>
            <a:off x="8043463" y="5059263"/>
            <a:ext cx="3342100" cy="216098"/>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Insurance</a:t>
            </a:r>
            <a:endParaRPr lang="en-US" sz="1350" dirty="0"/>
          </a:p>
        </p:txBody>
      </p:sp>
      <p:sp>
        <p:nvSpPr>
          <p:cNvPr id="31" name="Shape 29"/>
          <p:cNvSpPr/>
          <p:nvPr/>
        </p:nvSpPr>
        <p:spPr>
          <a:xfrm>
            <a:off x="667825" y="5413673"/>
            <a:ext cx="5428023" cy="492720"/>
          </a:xfrm>
          <a:custGeom>
            <a:avLst/>
            <a:gdLst/>
            <a:ahLst/>
            <a:cxnLst/>
            <a:rect l="l" t="t" r="r" b="b"/>
            <a:pathLst>
              <a:path w="5428023" h="492720">
                <a:moveTo>
                  <a:pt x="0" y="0"/>
                </a:moveTo>
                <a:lnTo>
                  <a:pt x="5428023" y="0"/>
                </a:lnTo>
                <a:lnTo>
                  <a:pt x="5428023" y="492720"/>
                </a:lnTo>
                <a:lnTo>
                  <a:pt x="103789" y="492720"/>
                </a:lnTo>
                <a:arcTo wR="103789" hR="103792" stAng="5400000" swAng="5400000"/>
                <a:lnTo>
                  <a:pt x="0" y="0"/>
                </a:lnTo>
                <a:close/>
              </a:path>
            </a:pathLst>
          </a:custGeom>
          <a:solidFill>
            <a:srgbClr val="EFF0F6"/>
          </a:solidFill>
          <a:ln/>
        </p:spPr>
      </p:sp>
      <p:sp>
        <p:nvSpPr>
          <p:cNvPr id="32" name="Shape 30"/>
          <p:cNvSpPr/>
          <p:nvPr/>
        </p:nvSpPr>
        <p:spPr>
          <a:xfrm>
            <a:off x="667825" y="5413673"/>
            <a:ext cx="5428023" cy="19050"/>
          </a:xfrm>
          <a:prstGeom prst="roundRect">
            <a:avLst>
              <a:gd name="adj" fmla="val 49999"/>
            </a:avLst>
          </a:prstGeom>
          <a:solidFill>
            <a:srgbClr val="C5C7D2"/>
          </a:solidFill>
          <a:ln/>
        </p:spPr>
      </p:sp>
      <p:sp>
        <p:nvSpPr>
          <p:cNvPr id="33" name="Text 31"/>
          <p:cNvSpPr/>
          <p:nvPr/>
        </p:nvSpPr>
        <p:spPr>
          <a:xfrm>
            <a:off x="806132" y="5551984"/>
            <a:ext cx="5151408" cy="216098"/>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Force Majeure</a:t>
            </a:r>
            <a:endParaRPr lang="en-US" sz="1350" dirty="0"/>
          </a:p>
        </p:txBody>
      </p:sp>
      <p:sp>
        <p:nvSpPr>
          <p:cNvPr id="34" name="Shape 32"/>
          <p:cNvSpPr/>
          <p:nvPr/>
        </p:nvSpPr>
        <p:spPr>
          <a:xfrm>
            <a:off x="6095848" y="5413673"/>
            <a:ext cx="5428023" cy="492720"/>
          </a:xfrm>
          <a:custGeom>
            <a:avLst/>
            <a:gdLst/>
            <a:ahLst/>
            <a:cxnLst/>
            <a:rect l="l" t="t" r="r" b="b"/>
            <a:pathLst>
              <a:path w="5428023" h="492720">
                <a:moveTo>
                  <a:pt x="0" y="0"/>
                </a:moveTo>
                <a:lnTo>
                  <a:pt x="5428023" y="0"/>
                </a:lnTo>
                <a:lnTo>
                  <a:pt x="5428023" y="388928"/>
                </a:lnTo>
                <a:arcTo wR="103789" hR="103792" stAng="0" swAng="5400000"/>
                <a:lnTo>
                  <a:pt x="0" y="492720"/>
                </a:lnTo>
                <a:lnTo>
                  <a:pt x="0" y="0"/>
                </a:lnTo>
                <a:close/>
              </a:path>
            </a:pathLst>
          </a:custGeom>
          <a:solidFill>
            <a:srgbClr val="EFF0F6"/>
          </a:solidFill>
          <a:ln/>
        </p:spPr>
      </p:sp>
      <p:sp>
        <p:nvSpPr>
          <p:cNvPr id="35" name="Shape 33"/>
          <p:cNvSpPr/>
          <p:nvPr/>
        </p:nvSpPr>
        <p:spPr>
          <a:xfrm>
            <a:off x="6095848" y="5413673"/>
            <a:ext cx="19050" cy="492720"/>
          </a:xfrm>
          <a:prstGeom prst="roundRect">
            <a:avLst>
              <a:gd name="adj" fmla="val 49999"/>
            </a:avLst>
          </a:prstGeom>
          <a:solidFill>
            <a:srgbClr val="C5C7D2"/>
          </a:solidFill>
          <a:ln/>
        </p:spPr>
      </p:sp>
      <p:sp>
        <p:nvSpPr>
          <p:cNvPr id="36" name="Shape 34"/>
          <p:cNvSpPr/>
          <p:nvPr/>
        </p:nvSpPr>
        <p:spPr>
          <a:xfrm>
            <a:off x="6095848" y="5413673"/>
            <a:ext cx="5428023" cy="19050"/>
          </a:xfrm>
          <a:prstGeom prst="roundRect">
            <a:avLst>
              <a:gd name="adj" fmla="val 49999"/>
            </a:avLst>
          </a:prstGeom>
          <a:solidFill>
            <a:srgbClr val="C5C7D2"/>
          </a:solidFill>
          <a:ln/>
        </p:spPr>
      </p:sp>
      <p:sp>
        <p:nvSpPr>
          <p:cNvPr id="37" name="Text 35"/>
          <p:cNvSpPr/>
          <p:nvPr/>
        </p:nvSpPr>
        <p:spPr>
          <a:xfrm>
            <a:off x="6234155" y="5551984"/>
            <a:ext cx="5151408" cy="216098"/>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Governing Law</a:t>
            </a:r>
            <a:endParaRPr lang="en-US" sz="1350" dirty="0"/>
          </a:p>
        </p:txBody>
      </p:sp>
      <p:sp>
        <p:nvSpPr>
          <p:cNvPr id="38" name="Text 36"/>
          <p:cNvSpPr/>
          <p:nvPr/>
        </p:nvSpPr>
        <p:spPr>
          <a:xfrm>
            <a:off x="661475" y="6042918"/>
            <a:ext cx="11478330" cy="203299"/>
          </a:xfrm>
          <a:prstGeom prst="rect">
            <a:avLst/>
          </a:prstGeom>
          <a:noFill/>
          <a:ln/>
        </p:spPr>
        <p:txBody>
          <a:bodyPr wrap="none" lIns="0" tIns="0" rIns="0" bIns="0" rtlCol="0" anchor="t"/>
          <a:lstStyle/>
          <a:p>
            <a:pPr marL="0" indent="0" algn="l">
              <a:lnSpc>
                <a:spcPct val="122000"/>
              </a:lnSpc>
              <a:buNone/>
            </a:pPr>
            <a:r>
              <a:rPr lang="en-US" sz="1050" dirty="0">
                <a:solidFill>
                  <a:srgbClr val="3D3E44"/>
                </a:solidFill>
                <a:latin typeface="Inter Light" pitchFamily="34" charset="0"/>
                <a:ea typeface="Inter Light" pitchFamily="34" charset="-122"/>
                <a:cs typeface="Inter Light" pitchFamily="34" charset="-120"/>
              </a:rPr>
              <a:t>The model demonstrates particularly reliable performance on high-stakes legal categories, making it well-suited for real-world contract review workflows.</a:t>
            </a:r>
            <a:endParaRPr lang="en-US" sz="1050" dirty="0"/>
          </a:p>
        </p:txBody>
      </p:sp>
      <p:pic>
        <p:nvPicPr>
          <p:cNvPr id="40" name="Picture 39">
            <a:extLst>
              <a:ext uri="{FF2B5EF4-FFF2-40B4-BE49-F238E27FC236}">
                <a16:creationId xmlns:a16="http://schemas.microsoft.com/office/drawing/2014/main" id="{60EAFC67-14A4-CC77-ABE7-B435AD8B6756}"/>
              </a:ext>
            </a:extLst>
          </p:cNvPr>
          <p:cNvPicPr>
            <a:picLocks noChangeAspect="1"/>
          </p:cNvPicPr>
          <p:nvPr/>
        </p:nvPicPr>
        <p:blipFill>
          <a:blip r:embed="rId3"/>
          <a:stretch>
            <a:fillRect/>
          </a:stretch>
        </p:blipFill>
        <p:spPr>
          <a:xfrm>
            <a:off x="11028784" y="6491743"/>
            <a:ext cx="1163216" cy="342930"/>
          </a:xfrm>
          <a:prstGeom prst="rect">
            <a:avLst/>
          </a:prstGeom>
        </p:spPr>
      </p:pic>
      <p:pic>
        <p:nvPicPr>
          <p:cNvPr id="42" name="Picture 41">
            <a:extLst>
              <a:ext uri="{FF2B5EF4-FFF2-40B4-BE49-F238E27FC236}">
                <a16:creationId xmlns:a16="http://schemas.microsoft.com/office/drawing/2014/main" id="{34303AA4-B94D-C1BF-455D-092AF8AB0BBA}"/>
              </a:ext>
            </a:extLst>
          </p:cNvPr>
          <p:cNvPicPr>
            <a:picLocks noChangeAspect="1"/>
          </p:cNvPicPr>
          <p:nvPr/>
        </p:nvPicPr>
        <p:blipFill>
          <a:blip r:embed="rId4"/>
          <a:stretch>
            <a:fillRect/>
          </a:stretch>
        </p:blipFill>
        <p:spPr>
          <a:xfrm>
            <a:off x="4148134" y="1751103"/>
            <a:ext cx="843592" cy="772856"/>
          </a:xfrm>
          <a:prstGeom prst="rect">
            <a:avLst/>
          </a:prstGeom>
        </p:spPr>
      </p:pic>
      <p:pic>
        <p:nvPicPr>
          <p:cNvPr id="44" name="Picture 43">
            <a:extLst>
              <a:ext uri="{FF2B5EF4-FFF2-40B4-BE49-F238E27FC236}">
                <a16:creationId xmlns:a16="http://schemas.microsoft.com/office/drawing/2014/main" id="{C6484E82-3BB0-9BE6-F64F-55C7E0F8902F}"/>
              </a:ext>
            </a:extLst>
          </p:cNvPr>
          <p:cNvPicPr>
            <a:picLocks noChangeAspect="1"/>
          </p:cNvPicPr>
          <p:nvPr/>
        </p:nvPicPr>
        <p:blipFill>
          <a:blip r:embed="rId5"/>
          <a:stretch>
            <a:fillRect/>
          </a:stretch>
        </p:blipFill>
        <p:spPr>
          <a:xfrm>
            <a:off x="11028784" y="3289337"/>
            <a:ext cx="299039" cy="282540"/>
          </a:xfrm>
          <a:prstGeom prst="rect">
            <a:avLst/>
          </a:prstGeom>
        </p:spPr>
      </p:pic>
      <p:pic>
        <p:nvPicPr>
          <p:cNvPr id="46" name="Picture 45">
            <a:extLst>
              <a:ext uri="{FF2B5EF4-FFF2-40B4-BE49-F238E27FC236}">
                <a16:creationId xmlns:a16="http://schemas.microsoft.com/office/drawing/2014/main" id="{1234A8F5-34D4-6630-FE9C-BC367093E1A0}"/>
              </a:ext>
            </a:extLst>
          </p:cNvPr>
          <p:cNvPicPr>
            <a:picLocks noChangeAspect="1"/>
          </p:cNvPicPr>
          <p:nvPr/>
        </p:nvPicPr>
        <p:blipFill>
          <a:blip r:embed="rId6"/>
          <a:stretch>
            <a:fillRect/>
          </a:stretch>
        </p:blipFill>
        <p:spPr>
          <a:xfrm>
            <a:off x="8418622" y="3308625"/>
            <a:ext cx="293662" cy="287978"/>
          </a:xfrm>
          <a:prstGeom prst="rect">
            <a:avLst/>
          </a:prstGeom>
        </p:spPr>
      </p:pic>
      <p:pic>
        <p:nvPicPr>
          <p:cNvPr id="48" name="Picture 47">
            <a:extLst>
              <a:ext uri="{FF2B5EF4-FFF2-40B4-BE49-F238E27FC236}">
                <a16:creationId xmlns:a16="http://schemas.microsoft.com/office/drawing/2014/main" id="{487DB5E4-17BF-254D-C71D-C83A6117C0B0}"/>
              </a:ext>
            </a:extLst>
          </p:cNvPr>
          <p:cNvPicPr>
            <a:picLocks noChangeAspect="1"/>
          </p:cNvPicPr>
          <p:nvPr/>
        </p:nvPicPr>
        <p:blipFill>
          <a:blip r:embed="rId7"/>
          <a:stretch>
            <a:fillRect/>
          </a:stretch>
        </p:blipFill>
        <p:spPr>
          <a:xfrm>
            <a:off x="8418622" y="2307807"/>
            <a:ext cx="293662" cy="285831"/>
          </a:xfrm>
          <a:prstGeom prst="rect">
            <a:avLst/>
          </a:prstGeom>
        </p:spPr>
      </p:pic>
      <p:pic>
        <p:nvPicPr>
          <p:cNvPr id="50" name="Picture 49">
            <a:extLst>
              <a:ext uri="{FF2B5EF4-FFF2-40B4-BE49-F238E27FC236}">
                <a16:creationId xmlns:a16="http://schemas.microsoft.com/office/drawing/2014/main" id="{9A4FEA5A-852F-D5A0-E7C5-46A70E4626CA}"/>
              </a:ext>
            </a:extLst>
          </p:cNvPr>
          <p:cNvPicPr>
            <a:picLocks noChangeAspect="1"/>
          </p:cNvPicPr>
          <p:nvPr/>
        </p:nvPicPr>
        <p:blipFill>
          <a:blip r:embed="rId8"/>
          <a:stretch>
            <a:fillRect/>
          </a:stretch>
        </p:blipFill>
        <p:spPr>
          <a:xfrm>
            <a:off x="11028784" y="2287594"/>
            <a:ext cx="293662" cy="28974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5233360" y="612477"/>
            <a:ext cx="6296860" cy="439241"/>
          </a:xfrm>
          <a:prstGeom prst="rect">
            <a:avLst/>
          </a:prstGeom>
          <a:noFill/>
          <a:ln/>
        </p:spPr>
        <p:txBody>
          <a:bodyPr wrap="none" lIns="0" tIns="0" rIns="0" bIns="0" rtlCol="0" anchor="t"/>
          <a:lstStyle/>
          <a:p>
            <a:pPr marL="0" indent="0" algn="l">
              <a:lnSpc>
                <a:spcPct val="104000"/>
              </a:lnSpc>
              <a:buNone/>
            </a:pPr>
            <a:r>
              <a:rPr lang="en-US" sz="2750" dirty="0">
                <a:solidFill>
                  <a:srgbClr val="74767D"/>
                </a:solidFill>
                <a:latin typeface="Montserrat Medium" pitchFamily="34" charset="0"/>
                <a:ea typeface="Montserrat Medium" pitchFamily="34" charset="-122"/>
                <a:cs typeface="Montserrat Medium" pitchFamily="34" charset="-120"/>
              </a:rPr>
              <a:t>Technologies Used</a:t>
            </a:r>
            <a:endParaRPr lang="en-US" sz="2750" dirty="0"/>
          </a:p>
        </p:txBody>
      </p:sp>
      <p:sp>
        <p:nvSpPr>
          <p:cNvPr id="4" name="Text 1"/>
          <p:cNvSpPr/>
          <p:nvPr/>
        </p:nvSpPr>
        <p:spPr>
          <a:xfrm>
            <a:off x="5233360" y="1230908"/>
            <a:ext cx="6296860" cy="416123"/>
          </a:xfrm>
          <a:prstGeom prst="rect">
            <a:avLst/>
          </a:prstGeom>
          <a:noFill/>
          <a:ln/>
        </p:spPr>
        <p:txBody>
          <a:bodyPr wrap="square" lIns="0" tIns="0" rIns="0" bIns="0" rtlCol="0" anchor="t">
            <a:normAutofit/>
          </a:bodyPr>
          <a:lstStyle/>
          <a:p>
            <a:pPr marL="0" indent="0" algn="l">
              <a:lnSpc>
                <a:spcPct val="123000"/>
              </a:lnSpc>
              <a:buNone/>
            </a:pPr>
            <a:r>
              <a:rPr lang="en-US" sz="1100" dirty="0">
                <a:solidFill>
                  <a:srgbClr val="3D3E44"/>
                </a:solidFill>
                <a:latin typeface="Inter Light" pitchFamily="34" charset="0"/>
                <a:ea typeface="Inter Light" pitchFamily="34" charset="-122"/>
                <a:cs typeface="Inter Light" pitchFamily="34" charset="-120"/>
              </a:rPr>
              <a:t>The system is built on a modern, lightweight Python stack designed for efficiency, reproducibility, and ease of deployment in legal tech environments.</a:t>
            </a:r>
            <a:endParaRPr lang="en-US" sz="110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33360" y="1781373"/>
            <a:ext cx="6296860" cy="1026418"/>
          </a:xfrm>
          <a:prstGeom prst="rect">
            <a:avLst/>
          </a:prstGeom>
        </p:spPr>
      </p:pic>
      <p:pic>
        <p:nvPicPr>
          <p:cNvPr id="6"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24947" y="2189063"/>
            <a:ext cx="210835" cy="210840"/>
          </a:xfrm>
          <a:prstGeom prst="rect">
            <a:avLst/>
          </a:prstGeom>
        </p:spPr>
      </p:pic>
      <p:sp>
        <p:nvSpPr>
          <p:cNvPr id="7" name="Text 2"/>
          <p:cNvSpPr/>
          <p:nvPr/>
        </p:nvSpPr>
        <p:spPr>
          <a:xfrm>
            <a:off x="5934125" y="1940917"/>
            <a:ext cx="5436555" cy="219571"/>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Core Language</a:t>
            </a:r>
            <a:endParaRPr lang="en-US" sz="1350" dirty="0"/>
          </a:p>
        </p:txBody>
      </p:sp>
      <p:sp>
        <p:nvSpPr>
          <p:cNvPr id="8" name="Text 3"/>
          <p:cNvSpPr/>
          <p:nvPr/>
        </p:nvSpPr>
        <p:spPr>
          <a:xfrm>
            <a:off x="5934125" y="2232124"/>
            <a:ext cx="5436555" cy="416123"/>
          </a:xfrm>
          <a:prstGeom prst="rect">
            <a:avLst/>
          </a:prstGeom>
          <a:noFill/>
          <a:ln/>
        </p:spPr>
        <p:txBody>
          <a:bodyPr wrap="square" lIns="0" tIns="0" rIns="0" bIns="0" rtlCol="0" anchor="t">
            <a:normAutofit/>
          </a:bodyPr>
          <a:lstStyle/>
          <a:p>
            <a:pPr marL="0" indent="0" algn="l">
              <a:lnSpc>
                <a:spcPct val="123000"/>
              </a:lnSpc>
              <a:buNone/>
            </a:pPr>
            <a:r>
              <a:rPr lang="en-US" sz="1100" b="1" dirty="0">
                <a:solidFill>
                  <a:srgbClr val="3D3E44"/>
                </a:solidFill>
                <a:latin typeface="Inter Bold" pitchFamily="34" charset="0"/>
                <a:ea typeface="Inter Bold" pitchFamily="34" charset="-122"/>
                <a:cs typeface="Inter Bold" pitchFamily="34" charset="-120"/>
              </a:rPr>
              <a:t>Python</a:t>
            </a:r>
            <a:r>
              <a:rPr lang="en-US" sz="1100" dirty="0">
                <a:solidFill>
                  <a:srgbClr val="3D3E44"/>
                </a:solidFill>
                <a:latin typeface="Inter Light" pitchFamily="34" charset="0"/>
                <a:ea typeface="Inter Light" pitchFamily="34" charset="-122"/>
                <a:cs typeface="Inter Light" pitchFamily="34" charset="-120"/>
              </a:rPr>
              <a:t> — the primary language for all data processing, ML modeling, and application logic.</a:t>
            </a:r>
            <a:endParaRPr lang="en-US" sz="1100" dirty="0"/>
          </a:p>
        </p:txBody>
      </p:sp>
      <p:pic>
        <p:nvPicPr>
          <p:cNvPr id="9"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33360" y="2927251"/>
            <a:ext cx="6296860" cy="1026418"/>
          </a:xfrm>
          <a:prstGeom prst="rect">
            <a:avLst/>
          </a:prstGeom>
        </p:spPr>
      </p:pic>
      <p:pic>
        <p:nvPicPr>
          <p:cNvPr id="10"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424947" y="3334941"/>
            <a:ext cx="210835" cy="210840"/>
          </a:xfrm>
          <a:prstGeom prst="rect">
            <a:avLst/>
          </a:prstGeom>
        </p:spPr>
      </p:pic>
      <p:sp>
        <p:nvSpPr>
          <p:cNvPr id="11" name="Text 4"/>
          <p:cNvSpPr/>
          <p:nvPr/>
        </p:nvSpPr>
        <p:spPr>
          <a:xfrm>
            <a:off x="5934125" y="3086795"/>
            <a:ext cx="5436555" cy="219571"/>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Data &amp; ML Libraries</a:t>
            </a:r>
            <a:endParaRPr lang="en-US" sz="1350" dirty="0"/>
          </a:p>
        </p:txBody>
      </p:sp>
      <p:sp>
        <p:nvSpPr>
          <p:cNvPr id="12" name="Text 5"/>
          <p:cNvSpPr/>
          <p:nvPr/>
        </p:nvSpPr>
        <p:spPr>
          <a:xfrm>
            <a:off x="5934125" y="3378002"/>
            <a:ext cx="5436555" cy="416123"/>
          </a:xfrm>
          <a:prstGeom prst="rect">
            <a:avLst/>
          </a:prstGeom>
          <a:noFill/>
          <a:ln/>
        </p:spPr>
        <p:txBody>
          <a:bodyPr wrap="square" lIns="0" tIns="0" rIns="0" bIns="0" rtlCol="0" anchor="t">
            <a:normAutofit/>
          </a:bodyPr>
          <a:lstStyle/>
          <a:p>
            <a:pPr marL="0" indent="0" algn="l">
              <a:lnSpc>
                <a:spcPct val="123000"/>
              </a:lnSpc>
              <a:buNone/>
            </a:pPr>
            <a:r>
              <a:rPr lang="en-US" sz="1100" b="1" dirty="0">
                <a:solidFill>
                  <a:srgbClr val="3D3E44"/>
                </a:solidFill>
                <a:latin typeface="Inter Bold" pitchFamily="34" charset="0"/>
                <a:ea typeface="Inter Bold" pitchFamily="34" charset="-122"/>
                <a:cs typeface="Inter Bold" pitchFamily="34" charset="-120"/>
              </a:rPr>
              <a:t>Scikit-learn</a:t>
            </a:r>
            <a:r>
              <a:rPr lang="en-US" sz="1100" dirty="0">
                <a:solidFill>
                  <a:srgbClr val="3D3E44"/>
                </a:solidFill>
                <a:latin typeface="Inter Light" pitchFamily="34" charset="0"/>
                <a:ea typeface="Inter Light" pitchFamily="34" charset="-122"/>
                <a:cs typeface="Inter Light" pitchFamily="34" charset="-120"/>
              </a:rPr>
              <a:t> for ML pipelines, </a:t>
            </a:r>
            <a:r>
              <a:rPr lang="en-US" sz="1100" b="1" dirty="0">
                <a:solidFill>
                  <a:srgbClr val="3D3E44"/>
                </a:solidFill>
                <a:latin typeface="Inter Bold" pitchFamily="34" charset="0"/>
                <a:ea typeface="Inter Bold" pitchFamily="34" charset="-122"/>
                <a:cs typeface="Inter Bold" pitchFamily="34" charset="-120"/>
              </a:rPr>
              <a:t>Pandas</a:t>
            </a:r>
            <a:r>
              <a:rPr lang="en-US" sz="1100" dirty="0">
                <a:solidFill>
                  <a:srgbClr val="3D3E44"/>
                </a:solidFill>
                <a:latin typeface="Inter Light" pitchFamily="34" charset="0"/>
                <a:ea typeface="Inter Light" pitchFamily="34" charset="-122"/>
                <a:cs typeface="Inter Light" pitchFamily="34" charset="-120"/>
              </a:rPr>
              <a:t> and </a:t>
            </a:r>
            <a:r>
              <a:rPr lang="en-US" sz="1100" b="1" dirty="0">
                <a:solidFill>
                  <a:srgbClr val="3D3E44"/>
                </a:solidFill>
                <a:latin typeface="Inter Bold" pitchFamily="34" charset="0"/>
                <a:ea typeface="Inter Bold" pitchFamily="34" charset="-122"/>
                <a:cs typeface="Inter Bold" pitchFamily="34" charset="-120"/>
              </a:rPr>
              <a:t>NumPy</a:t>
            </a:r>
            <a:r>
              <a:rPr lang="en-US" sz="1100" dirty="0">
                <a:solidFill>
                  <a:srgbClr val="3D3E44"/>
                </a:solidFill>
                <a:latin typeface="Inter Light" pitchFamily="34" charset="0"/>
                <a:ea typeface="Inter Light" pitchFamily="34" charset="-122"/>
                <a:cs typeface="Inter Light" pitchFamily="34" charset="-120"/>
              </a:rPr>
              <a:t> for data manipulation, and </a:t>
            </a:r>
            <a:r>
              <a:rPr lang="en-US" sz="1100" b="1" dirty="0">
                <a:solidFill>
                  <a:srgbClr val="3D3E44"/>
                </a:solidFill>
                <a:latin typeface="Inter Bold" pitchFamily="34" charset="0"/>
                <a:ea typeface="Inter Bold" pitchFamily="34" charset="-122"/>
                <a:cs typeface="Inter Bold" pitchFamily="34" charset="-120"/>
              </a:rPr>
              <a:t>Joblib</a:t>
            </a:r>
            <a:r>
              <a:rPr lang="en-US" sz="1100" dirty="0">
                <a:solidFill>
                  <a:srgbClr val="3D3E44"/>
                </a:solidFill>
                <a:latin typeface="Inter Light" pitchFamily="34" charset="0"/>
                <a:ea typeface="Inter Light" pitchFamily="34" charset="-122"/>
                <a:cs typeface="Inter Light" pitchFamily="34" charset="-120"/>
              </a:rPr>
              <a:t> for model serialization.</a:t>
            </a:r>
            <a:endParaRPr lang="en-US" sz="1100" dirty="0"/>
          </a:p>
        </p:txBody>
      </p:sp>
      <p:pic>
        <p:nvPicPr>
          <p:cNvPr id="13" name="Image 5"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33360" y="4073128"/>
            <a:ext cx="6296860" cy="1026418"/>
          </a:xfrm>
          <a:prstGeom prst="rect">
            <a:avLst/>
          </a:prstGeom>
        </p:spPr>
      </p:pic>
      <p:pic>
        <p:nvPicPr>
          <p:cNvPr id="14" name="Image 6"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24947" y="4480818"/>
            <a:ext cx="210835" cy="210840"/>
          </a:xfrm>
          <a:prstGeom prst="rect">
            <a:avLst/>
          </a:prstGeom>
        </p:spPr>
      </p:pic>
      <p:sp>
        <p:nvSpPr>
          <p:cNvPr id="15" name="Text 6"/>
          <p:cNvSpPr/>
          <p:nvPr/>
        </p:nvSpPr>
        <p:spPr>
          <a:xfrm>
            <a:off x="5934125" y="4232672"/>
            <a:ext cx="5436555" cy="219571"/>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NLP &amp; Modeling</a:t>
            </a:r>
            <a:endParaRPr lang="en-US" sz="1350" dirty="0"/>
          </a:p>
        </p:txBody>
      </p:sp>
      <p:sp>
        <p:nvSpPr>
          <p:cNvPr id="16" name="Text 7"/>
          <p:cNvSpPr/>
          <p:nvPr/>
        </p:nvSpPr>
        <p:spPr>
          <a:xfrm>
            <a:off x="5934125" y="4523879"/>
            <a:ext cx="5436555" cy="416123"/>
          </a:xfrm>
          <a:prstGeom prst="rect">
            <a:avLst/>
          </a:prstGeom>
          <a:noFill/>
          <a:ln/>
        </p:spPr>
        <p:txBody>
          <a:bodyPr wrap="square" lIns="0" tIns="0" rIns="0" bIns="0" rtlCol="0" anchor="t">
            <a:normAutofit/>
          </a:bodyPr>
          <a:lstStyle/>
          <a:p>
            <a:pPr marL="0" indent="0" algn="l">
              <a:lnSpc>
                <a:spcPct val="123000"/>
              </a:lnSpc>
              <a:buNone/>
            </a:pPr>
            <a:r>
              <a:rPr lang="en-US" sz="1100" b="1" dirty="0">
                <a:solidFill>
                  <a:srgbClr val="3D3E44"/>
                </a:solidFill>
                <a:latin typeface="Inter Bold" pitchFamily="34" charset="0"/>
                <a:ea typeface="Inter Bold" pitchFamily="34" charset="-122"/>
                <a:cs typeface="Inter Bold" pitchFamily="34" charset="-120"/>
              </a:rPr>
              <a:t>TF-IDF Vectorizer</a:t>
            </a:r>
            <a:r>
              <a:rPr lang="en-US" sz="1100" dirty="0">
                <a:solidFill>
                  <a:srgbClr val="3D3E44"/>
                </a:solidFill>
                <a:latin typeface="Inter Light" pitchFamily="34" charset="0"/>
                <a:ea typeface="Inter Light" pitchFamily="34" charset="-122"/>
                <a:cs typeface="Inter Light" pitchFamily="34" charset="-120"/>
              </a:rPr>
              <a:t> for text feature extraction and </a:t>
            </a:r>
            <a:r>
              <a:rPr lang="en-US" sz="1100" b="1" dirty="0">
                <a:solidFill>
                  <a:srgbClr val="3D3E44"/>
                </a:solidFill>
                <a:latin typeface="Inter Bold" pitchFamily="34" charset="0"/>
                <a:ea typeface="Inter Bold" pitchFamily="34" charset="-122"/>
                <a:cs typeface="Inter Bold" pitchFamily="34" charset="-120"/>
              </a:rPr>
              <a:t>Logistic Regression</a:t>
            </a:r>
            <a:r>
              <a:rPr lang="en-US" sz="1100" dirty="0">
                <a:solidFill>
                  <a:srgbClr val="3D3E44"/>
                </a:solidFill>
                <a:latin typeface="Inter Light" pitchFamily="34" charset="0"/>
                <a:ea typeface="Inter Light" pitchFamily="34" charset="-122"/>
                <a:cs typeface="Inter Light" pitchFamily="34" charset="-120"/>
              </a:rPr>
              <a:t> for clause classification.</a:t>
            </a:r>
            <a:endParaRPr lang="en-US" sz="1100" dirty="0"/>
          </a:p>
        </p:txBody>
      </p:sp>
      <p:pic>
        <p:nvPicPr>
          <p:cNvPr id="17" name="Image 7"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33360" y="5219005"/>
            <a:ext cx="6296860" cy="1026418"/>
          </a:xfrm>
          <a:prstGeom prst="rect">
            <a:avLst/>
          </a:prstGeom>
        </p:spPr>
      </p:pic>
      <p:pic>
        <p:nvPicPr>
          <p:cNvPr id="18" name="Image 8"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424947" y="5626695"/>
            <a:ext cx="210835" cy="210840"/>
          </a:xfrm>
          <a:prstGeom prst="rect">
            <a:avLst/>
          </a:prstGeom>
        </p:spPr>
      </p:pic>
      <p:sp>
        <p:nvSpPr>
          <p:cNvPr id="19" name="Text 8"/>
          <p:cNvSpPr/>
          <p:nvPr/>
        </p:nvSpPr>
        <p:spPr>
          <a:xfrm>
            <a:off x="5934125" y="5378549"/>
            <a:ext cx="5436555" cy="219571"/>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Development Tools</a:t>
            </a:r>
            <a:endParaRPr lang="en-US" sz="1350" dirty="0"/>
          </a:p>
        </p:txBody>
      </p:sp>
      <p:sp>
        <p:nvSpPr>
          <p:cNvPr id="20" name="Text 9"/>
          <p:cNvSpPr/>
          <p:nvPr/>
        </p:nvSpPr>
        <p:spPr>
          <a:xfrm>
            <a:off x="5934125" y="5669756"/>
            <a:ext cx="5436555" cy="416123"/>
          </a:xfrm>
          <a:prstGeom prst="rect">
            <a:avLst/>
          </a:prstGeom>
          <a:noFill/>
          <a:ln/>
        </p:spPr>
        <p:txBody>
          <a:bodyPr wrap="square" lIns="0" tIns="0" rIns="0" bIns="0" rtlCol="0" anchor="t">
            <a:normAutofit/>
          </a:bodyPr>
          <a:lstStyle/>
          <a:p>
            <a:pPr marL="0" indent="0" algn="l">
              <a:lnSpc>
                <a:spcPct val="123000"/>
              </a:lnSpc>
              <a:buNone/>
            </a:pPr>
            <a:r>
              <a:rPr lang="en-US" sz="1100" b="1" dirty="0">
                <a:solidFill>
                  <a:srgbClr val="3D3E44"/>
                </a:solidFill>
                <a:latin typeface="Inter Bold" pitchFamily="34" charset="0"/>
                <a:ea typeface="Inter Bold" pitchFamily="34" charset="-122"/>
                <a:cs typeface="Inter Bold" pitchFamily="34" charset="-120"/>
              </a:rPr>
              <a:t>Visual Studio Code</a:t>
            </a:r>
            <a:r>
              <a:rPr lang="en-US" sz="1100" dirty="0">
                <a:solidFill>
                  <a:srgbClr val="3D3E44"/>
                </a:solidFill>
                <a:latin typeface="Inter Light" pitchFamily="34" charset="0"/>
                <a:ea typeface="Inter Light" pitchFamily="34" charset="-122"/>
                <a:cs typeface="Inter Light" pitchFamily="34" charset="-120"/>
              </a:rPr>
              <a:t>, </a:t>
            </a:r>
            <a:r>
              <a:rPr lang="en-US" sz="1100" b="1" dirty="0">
                <a:solidFill>
                  <a:srgbClr val="3D3E44"/>
                </a:solidFill>
                <a:latin typeface="Inter Bold" pitchFamily="34" charset="0"/>
                <a:ea typeface="Inter Bold" pitchFamily="34" charset="-122"/>
                <a:cs typeface="Inter Bold" pitchFamily="34" charset="-120"/>
              </a:rPr>
              <a:t>Jupyter Notebook</a:t>
            </a:r>
            <a:r>
              <a:rPr lang="en-US" sz="1100" dirty="0">
                <a:solidFill>
                  <a:srgbClr val="3D3E44"/>
                </a:solidFill>
                <a:latin typeface="Inter Light" pitchFamily="34" charset="0"/>
                <a:ea typeface="Inter Light" pitchFamily="34" charset="-122"/>
                <a:cs typeface="Inter Light" pitchFamily="34" charset="-120"/>
              </a:rPr>
              <a:t> for experimentation, and </a:t>
            </a:r>
            <a:r>
              <a:rPr lang="en-US" sz="1100" b="1" dirty="0">
                <a:solidFill>
                  <a:srgbClr val="3D3E44"/>
                </a:solidFill>
                <a:latin typeface="Inter Bold" pitchFamily="34" charset="0"/>
                <a:ea typeface="Inter Bold" pitchFamily="34" charset="-122"/>
                <a:cs typeface="Inter Bold" pitchFamily="34" charset="-120"/>
              </a:rPr>
              <a:t>Git</a:t>
            </a:r>
            <a:r>
              <a:rPr lang="en-US" sz="1100" dirty="0">
                <a:solidFill>
                  <a:srgbClr val="3D3E44"/>
                </a:solidFill>
                <a:latin typeface="Inter Light" pitchFamily="34" charset="0"/>
                <a:ea typeface="Inter Light" pitchFamily="34" charset="-122"/>
                <a:cs typeface="Inter Light" pitchFamily="34" charset="-120"/>
              </a:rPr>
              <a:t> for version control and collaboration.</a:t>
            </a:r>
            <a:endParaRPr lang="en-US" sz="1100" dirty="0"/>
          </a:p>
        </p:txBody>
      </p:sp>
      <p:pic>
        <p:nvPicPr>
          <p:cNvPr id="22" name="Picture 21">
            <a:extLst>
              <a:ext uri="{FF2B5EF4-FFF2-40B4-BE49-F238E27FC236}">
                <a16:creationId xmlns:a16="http://schemas.microsoft.com/office/drawing/2014/main" id="{0B1E7241-C9CD-8030-35A2-CDB644D87214}"/>
              </a:ext>
            </a:extLst>
          </p:cNvPr>
          <p:cNvPicPr>
            <a:picLocks noChangeAspect="1"/>
          </p:cNvPicPr>
          <p:nvPr/>
        </p:nvPicPr>
        <p:blipFill>
          <a:blip r:embed="rId8"/>
          <a:stretch>
            <a:fillRect/>
          </a:stretch>
        </p:blipFill>
        <p:spPr>
          <a:xfrm>
            <a:off x="11028784" y="6491743"/>
            <a:ext cx="1163216" cy="342930"/>
          </a:xfrm>
          <a:prstGeom prst="rect">
            <a:avLst/>
          </a:prstGeom>
        </p:spPr>
      </p:pic>
      <p:pic>
        <p:nvPicPr>
          <p:cNvPr id="28" name="Picture 27">
            <a:extLst>
              <a:ext uri="{FF2B5EF4-FFF2-40B4-BE49-F238E27FC236}">
                <a16:creationId xmlns:a16="http://schemas.microsoft.com/office/drawing/2014/main" id="{73DFCC73-08AB-613F-0260-52FB9494B367}"/>
              </a:ext>
            </a:extLst>
          </p:cNvPr>
          <p:cNvPicPr>
            <a:picLocks noChangeAspect="1"/>
          </p:cNvPicPr>
          <p:nvPr/>
        </p:nvPicPr>
        <p:blipFill>
          <a:blip r:embed="rId9"/>
          <a:stretch>
            <a:fillRect/>
          </a:stretch>
        </p:blipFill>
        <p:spPr>
          <a:xfrm>
            <a:off x="0" y="0"/>
            <a:ext cx="507382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501650"/>
            <a:ext cx="10868745" cy="508695"/>
          </a:xfrm>
          <a:prstGeom prst="rect">
            <a:avLst/>
          </a:prstGeom>
          <a:noFill/>
          <a:ln/>
        </p:spPr>
        <p:txBody>
          <a:bodyPr wrap="none" lIns="0" tIns="0" rIns="0" bIns="0" rtlCol="0" anchor="t"/>
          <a:lstStyle/>
          <a:p>
            <a:pPr marL="0" indent="0" algn="l">
              <a:lnSpc>
                <a:spcPct val="104000"/>
              </a:lnSpc>
              <a:buNone/>
            </a:pPr>
            <a:r>
              <a:rPr lang="en-US" sz="3200" dirty="0">
                <a:solidFill>
                  <a:srgbClr val="74767D"/>
                </a:solidFill>
                <a:latin typeface="Montserrat Medium" pitchFamily="34" charset="0"/>
                <a:ea typeface="Montserrat Medium" pitchFamily="34" charset="-122"/>
                <a:cs typeface="Montserrat Medium" pitchFamily="34" charset="-120"/>
              </a:rPr>
              <a:t>Applications &amp; Advantages</a:t>
            </a:r>
            <a:endParaRPr lang="en-US" sz="3200" dirty="0"/>
          </a:p>
        </p:txBody>
      </p:sp>
      <p:sp>
        <p:nvSpPr>
          <p:cNvPr id="3" name="Text 1"/>
          <p:cNvSpPr/>
          <p:nvPr/>
        </p:nvSpPr>
        <p:spPr>
          <a:xfrm>
            <a:off x="661475" y="1410891"/>
            <a:ext cx="5235841" cy="254298"/>
          </a:xfrm>
          <a:prstGeom prst="rect">
            <a:avLst/>
          </a:prstGeom>
          <a:noFill/>
          <a:ln/>
        </p:spPr>
        <p:txBody>
          <a:bodyPr wrap="none" lIns="0" tIns="0" rIns="0" bIns="0" rtlCol="0" anchor="t"/>
          <a:lstStyle/>
          <a:p>
            <a:pPr marL="0" indent="0" algn="l">
              <a:lnSpc>
                <a:spcPct val="104000"/>
              </a:lnSpc>
              <a:buNone/>
            </a:pPr>
            <a:r>
              <a:rPr lang="en-US" sz="1600" dirty="0">
                <a:solidFill>
                  <a:srgbClr val="74767D"/>
                </a:solidFill>
                <a:latin typeface="Montserrat Medium" pitchFamily="34" charset="0"/>
                <a:ea typeface="Montserrat Medium" pitchFamily="34" charset="-122"/>
                <a:cs typeface="Montserrat Medium" pitchFamily="34" charset="-120"/>
              </a:rPr>
              <a:t>Target Applications</a:t>
            </a:r>
            <a:endParaRPr lang="en-US" sz="1600" dirty="0"/>
          </a:p>
        </p:txBody>
      </p:sp>
      <p:sp>
        <p:nvSpPr>
          <p:cNvPr id="4" name="Text 2"/>
          <p:cNvSpPr/>
          <p:nvPr/>
        </p:nvSpPr>
        <p:spPr>
          <a:xfrm>
            <a:off x="661475" y="1825427"/>
            <a:ext cx="5235841" cy="516930"/>
          </a:xfrm>
          <a:prstGeom prst="rect">
            <a:avLst/>
          </a:prstGeom>
          <a:noFill/>
          <a:ln/>
        </p:spPr>
        <p:txBody>
          <a:bodyPr wrap="square" lIns="0" tIns="0" rIns="0" bIns="0" rtlCol="0" anchor="t">
            <a:normAutofit/>
          </a:bodyPr>
          <a:lstStyle/>
          <a:p>
            <a:pPr marL="0" indent="0" algn="l">
              <a:lnSpc>
                <a:spcPct val="132000"/>
              </a:lnSpc>
              <a:buNone/>
            </a:pPr>
            <a:r>
              <a:rPr lang="en-US" sz="1250" dirty="0">
                <a:solidFill>
                  <a:srgbClr val="3D3E44"/>
                </a:solidFill>
                <a:latin typeface="Inter Light" pitchFamily="34" charset="0"/>
                <a:ea typeface="Inter Light" pitchFamily="34" charset="-122"/>
                <a:cs typeface="Inter Light" pitchFamily="34" charset="-120"/>
              </a:rPr>
              <a:t>The system is applicable across any organization that regularly handles legal contracts at scale:</a:t>
            </a:r>
            <a:endParaRPr lang="en-US" sz="125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2493" y="2527598"/>
            <a:ext cx="244171" cy="244177"/>
          </a:xfrm>
          <a:prstGeom prst="rect">
            <a:avLst/>
          </a:prstGeom>
        </p:spPr>
      </p:pic>
      <p:sp>
        <p:nvSpPr>
          <p:cNvPr id="6" name="Text 3"/>
          <p:cNvSpPr/>
          <p:nvPr/>
        </p:nvSpPr>
        <p:spPr>
          <a:xfrm>
            <a:off x="1190496" y="2522637"/>
            <a:ext cx="4706820" cy="254298"/>
          </a:xfrm>
          <a:prstGeom prst="rect">
            <a:avLst/>
          </a:prstGeom>
          <a:noFill/>
          <a:ln/>
        </p:spPr>
        <p:txBody>
          <a:bodyPr wrap="none" lIns="0" tIns="0" rIns="0" bIns="0" rtlCol="0" anchor="t"/>
          <a:lstStyle/>
          <a:p>
            <a:pPr marL="0" indent="0" algn="l">
              <a:lnSpc>
                <a:spcPct val="104000"/>
              </a:lnSpc>
              <a:buNone/>
            </a:pPr>
            <a:r>
              <a:rPr lang="en-US" sz="1600" dirty="0">
                <a:solidFill>
                  <a:srgbClr val="3D3E44"/>
                </a:solidFill>
                <a:latin typeface="Montserrat Medium" pitchFamily="34" charset="0"/>
                <a:ea typeface="Montserrat Medium" pitchFamily="34" charset="-122"/>
                <a:cs typeface="Montserrat Medium" pitchFamily="34" charset="-120"/>
              </a:rPr>
              <a:t>Law Firms</a:t>
            </a:r>
            <a:endParaRPr lang="en-US" sz="1600" dirty="0"/>
          </a:p>
        </p:txBody>
      </p:sp>
      <p:sp>
        <p:nvSpPr>
          <p:cNvPr id="7" name="Text 4"/>
          <p:cNvSpPr/>
          <p:nvPr/>
        </p:nvSpPr>
        <p:spPr>
          <a:xfrm>
            <a:off x="1190496" y="2937173"/>
            <a:ext cx="4706820" cy="258465"/>
          </a:xfrm>
          <a:prstGeom prst="rect">
            <a:avLst/>
          </a:prstGeom>
          <a:noFill/>
          <a:ln/>
        </p:spPr>
        <p:txBody>
          <a:bodyPr wrap="none" lIns="0" tIns="0" rIns="0" bIns="0" rtlCol="0" anchor="t"/>
          <a:lstStyle/>
          <a:p>
            <a:pPr marL="0" indent="0" algn="l">
              <a:lnSpc>
                <a:spcPct val="132000"/>
              </a:lnSpc>
              <a:buNone/>
            </a:pPr>
            <a:r>
              <a:rPr lang="en-US" sz="1250" dirty="0">
                <a:solidFill>
                  <a:srgbClr val="3D3E44"/>
                </a:solidFill>
                <a:latin typeface="Inter Light" pitchFamily="34" charset="0"/>
                <a:ea typeface="Inter Light" pitchFamily="34" charset="-122"/>
                <a:cs typeface="Inter Light" pitchFamily="34" charset="-120"/>
              </a:rPr>
              <a:t>Accelerate due diligence and contract review for clients</a:t>
            </a:r>
            <a:endParaRPr lang="en-US" sz="125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2493" y="3521075"/>
            <a:ext cx="244171" cy="244177"/>
          </a:xfrm>
          <a:prstGeom prst="rect">
            <a:avLst/>
          </a:prstGeom>
        </p:spPr>
      </p:pic>
      <p:sp>
        <p:nvSpPr>
          <p:cNvPr id="9" name="Text 5"/>
          <p:cNvSpPr/>
          <p:nvPr/>
        </p:nvSpPr>
        <p:spPr>
          <a:xfrm>
            <a:off x="1190496" y="3516114"/>
            <a:ext cx="4706820" cy="254298"/>
          </a:xfrm>
          <a:prstGeom prst="rect">
            <a:avLst/>
          </a:prstGeom>
          <a:noFill/>
          <a:ln/>
        </p:spPr>
        <p:txBody>
          <a:bodyPr wrap="none" lIns="0" tIns="0" rIns="0" bIns="0" rtlCol="0" anchor="t"/>
          <a:lstStyle/>
          <a:p>
            <a:pPr marL="0" indent="0" algn="l">
              <a:lnSpc>
                <a:spcPct val="104000"/>
              </a:lnSpc>
              <a:buNone/>
            </a:pPr>
            <a:r>
              <a:rPr lang="en-US" sz="1600" dirty="0">
                <a:solidFill>
                  <a:srgbClr val="3D3E44"/>
                </a:solidFill>
                <a:latin typeface="Montserrat Medium" pitchFamily="34" charset="0"/>
                <a:ea typeface="Montserrat Medium" pitchFamily="34" charset="-122"/>
                <a:cs typeface="Montserrat Medium" pitchFamily="34" charset="-120"/>
              </a:rPr>
              <a:t>Corporate Legal Departments</a:t>
            </a:r>
            <a:endParaRPr lang="en-US" sz="1600" dirty="0"/>
          </a:p>
        </p:txBody>
      </p:sp>
      <p:sp>
        <p:nvSpPr>
          <p:cNvPr id="10" name="Text 6"/>
          <p:cNvSpPr/>
          <p:nvPr/>
        </p:nvSpPr>
        <p:spPr>
          <a:xfrm>
            <a:off x="1190496" y="3930650"/>
            <a:ext cx="4706820" cy="258465"/>
          </a:xfrm>
          <a:prstGeom prst="rect">
            <a:avLst/>
          </a:prstGeom>
          <a:noFill/>
          <a:ln/>
        </p:spPr>
        <p:txBody>
          <a:bodyPr wrap="none" lIns="0" tIns="0" rIns="0" bIns="0" rtlCol="0" anchor="t"/>
          <a:lstStyle/>
          <a:p>
            <a:pPr marL="0" indent="0" algn="l">
              <a:lnSpc>
                <a:spcPct val="132000"/>
              </a:lnSpc>
              <a:buNone/>
            </a:pPr>
            <a:r>
              <a:rPr lang="en-US" sz="1250" dirty="0">
                <a:solidFill>
                  <a:srgbClr val="3D3E44"/>
                </a:solidFill>
                <a:latin typeface="Inter Light" pitchFamily="34" charset="0"/>
                <a:ea typeface="Inter Light" pitchFamily="34" charset="-122"/>
                <a:cs typeface="Inter Light" pitchFamily="34" charset="-120"/>
              </a:rPr>
              <a:t>Standardize internal contract review processes</a:t>
            </a:r>
            <a:endParaRPr lang="en-US" sz="125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2493" y="4514552"/>
            <a:ext cx="244171" cy="244177"/>
          </a:xfrm>
          <a:prstGeom prst="rect">
            <a:avLst/>
          </a:prstGeom>
        </p:spPr>
      </p:pic>
      <p:sp>
        <p:nvSpPr>
          <p:cNvPr id="12" name="Text 7"/>
          <p:cNvSpPr/>
          <p:nvPr/>
        </p:nvSpPr>
        <p:spPr>
          <a:xfrm>
            <a:off x="1190496" y="4509591"/>
            <a:ext cx="4706820" cy="254298"/>
          </a:xfrm>
          <a:prstGeom prst="rect">
            <a:avLst/>
          </a:prstGeom>
          <a:noFill/>
          <a:ln/>
        </p:spPr>
        <p:txBody>
          <a:bodyPr wrap="none" lIns="0" tIns="0" rIns="0" bIns="0" rtlCol="0" anchor="t"/>
          <a:lstStyle/>
          <a:p>
            <a:pPr marL="0" indent="0" algn="l">
              <a:lnSpc>
                <a:spcPct val="104000"/>
              </a:lnSpc>
              <a:buNone/>
            </a:pPr>
            <a:r>
              <a:rPr lang="en-US" sz="1600" dirty="0">
                <a:solidFill>
                  <a:srgbClr val="3D3E44"/>
                </a:solidFill>
                <a:latin typeface="Montserrat Medium" pitchFamily="34" charset="0"/>
                <a:ea typeface="Montserrat Medium" pitchFamily="34" charset="-122"/>
                <a:cs typeface="Montserrat Medium" pitchFamily="34" charset="-120"/>
              </a:rPr>
              <a:t>Banking &amp; Insurance</a:t>
            </a:r>
            <a:endParaRPr lang="en-US" sz="1600" dirty="0"/>
          </a:p>
        </p:txBody>
      </p:sp>
      <p:sp>
        <p:nvSpPr>
          <p:cNvPr id="13" name="Text 8"/>
          <p:cNvSpPr/>
          <p:nvPr/>
        </p:nvSpPr>
        <p:spPr>
          <a:xfrm>
            <a:off x="1190496" y="4924127"/>
            <a:ext cx="4706820" cy="258465"/>
          </a:xfrm>
          <a:prstGeom prst="rect">
            <a:avLst/>
          </a:prstGeom>
          <a:noFill/>
          <a:ln/>
        </p:spPr>
        <p:txBody>
          <a:bodyPr wrap="none" lIns="0" tIns="0" rIns="0" bIns="0" rtlCol="0" anchor="t"/>
          <a:lstStyle/>
          <a:p>
            <a:pPr marL="0" indent="0" algn="l">
              <a:lnSpc>
                <a:spcPct val="132000"/>
              </a:lnSpc>
              <a:buNone/>
            </a:pPr>
            <a:r>
              <a:rPr lang="en-US" sz="1250" dirty="0">
                <a:solidFill>
                  <a:srgbClr val="3D3E44"/>
                </a:solidFill>
                <a:latin typeface="Inter Light" pitchFamily="34" charset="0"/>
                <a:ea typeface="Inter Light" pitchFamily="34" charset="-122"/>
                <a:cs typeface="Inter Light" pitchFamily="34" charset="-120"/>
              </a:rPr>
              <a:t>Manage high volumes of financial and policy contracts</a:t>
            </a:r>
            <a:endParaRPr lang="en-US" sz="125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2493" y="5508030"/>
            <a:ext cx="244171" cy="244177"/>
          </a:xfrm>
          <a:prstGeom prst="rect">
            <a:avLst/>
          </a:prstGeom>
        </p:spPr>
      </p:pic>
      <p:sp>
        <p:nvSpPr>
          <p:cNvPr id="15" name="Text 9"/>
          <p:cNvSpPr/>
          <p:nvPr/>
        </p:nvSpPr>
        <p:spPr>
          <a:xfrm>
            <a:off x="1190496" y="5503069"/>
            <a:ext cx="4706820" cy="254298"/>
          </a:xfrm>
          <a:prstGeom prst="rect">
            <a:avLst/>
          </a:prstGeom>
          <a:noFill/>
          <a:ln/>
        </p:spPr>
        <p:txBody>
          <a:bodyPr wrap="none" lIns="0" tIns="0" rIns="0" bIns="0" rtlCol="0" anchor="t"/>
          <a:lstStyle/>
          <a:p>
            <a:pPr marL="0" indent="0" algn="l">
              <a:lnSpc>
                <a:spcPct val="104000"/>
              </a:lnSpc>
              <a:buNone/>
            </a:pPr>
            <a:r>
              <a:rPr lang="en-US" sz="1600" dirty="0">
                <a:solidFill>
                  <a:srgbClr val="3D3E44"/>
                </a:solidFill>
                <a:latin typeface="Montserrat Medium" pitchFamily="34" charset="0"/>
                <a:ea typeface="Montserrat Medium" pitchFamily="34" charset="-122"/>
                <a:cs typeface="Montserrat Medium" pitchFamily="34" charset="-120"/>
              </a:rPr>
              <a:t>Procurement &amp; Contract Management</a:t>
            </a:r>
            <a:endParaRPr lang="en-US" sz="1600" dirty="0"/>
          </a:p>
        </p:txBody>
      </p:sp>
      <p:sp>
        <p:nvSpPr>
          <p:cNvPr id="16" name="Text 10"/>
          <p:cNvSpPr/>
          <p:nvPr/>
        </p:nvSpPr>
        <p:spPr>
          <a:xfrm>
            <a:off x="1190496" y="5917605"/>
            <a:ext cx="4706820" cy="258465"/>
          </a:xfrm>
          <a:prstGeom prst="rect">
            <a:avLst/>
          </a:prstGeom>
          <a:noFill/>
          <a:ln/>
        </p:spPr>
        <p:txBody>
          <a:bodyPr wrap="none" lIns="0" tIns="0" rIns="0" bIns="0" rtlCol="0" anchor="t"/>
          <a:lstStyle/>
          <a:p>
            <a:pPr marL="0" indent="0" algn="l">
              <a:lnSpc>
                <a:spcPct val="132000"/>
              </a:lnSpc>
              <a:buNone/>
            </a:pPr>
            <a:r>
              <a:rPr lang="en-US" sz="1250" dirty="0">
                <a:solidFill>
                  <a:srgbClr val="3D3E44"/>
                </a:solidFill>
                <a:latin typeface="Inter Light" pitchFamily="34" charset="0"/>
                <a:ea typeface="Inter Light" pitchFamily="34" charset="-122"/>
                <a:cs typeface="Inter Light" pitchFamily="34" charset="-120"/>
              </a:rPr>
              <a:t>Automate vendor and supplier agreement reviews</a:t>
            </a:r>
            <a:endParaRPr lang="en-US" sz="1250" dirty="0"/>
          </a:p>
        </p:txBody>
      </p:sp>
      <p:sp>
        <p:nvSpPr>
          <p:cNvPr id="19" name="Text 13"/>
          <p:cNvSpPr/>
          <p:nvPr/>
        </p:nvSpPr>
        <p:spPr>
          <a:xfrm>
            <a:off x="6346269" y="1825427"/>
            <a:ext cx="5144760" cy="2089547"/>
          </a:xfrm>
          <a:prstGeom prst="rect">
            <a:avLst/>
          </a:prstGeom>
          <a:noFill/>
          <a:ln/>
        </p:spPr>
        <p:txBody>
          <a:bodyPr wrap="square" lIns="0" tIns="0" rIns="0" bIns="0" rtlCol="0" anchor="t">
            <a:normAutofit/>
          </a:bodyPr>
          <a:lstStyle/>
          <a:p>
            <a:pPr algn="l">
              <a:lnSpc>
                <a:spcPct val="132000"/>
              </a:lnSpc>
              <a:buSzPct val="100000"/>
            </a:pPr>
            <a:endParaRPr lang="en-US" sz="1250" dirty="0"/>
          </a:p>
        </p:txBody>
      </p:sp>
      <p:sp>
        <p:nvSpPr>
          <p:cNvPr id="20" name="Text 14"/>
          <p:cNvSpPr/>
          <p:nvPr/>
        </p:nvSpPr>
        <p:spPr>
          <a:xfrm>
            <a:off x="6346269" y="4059138"/>
            <a:ext cx="5144760" cy="516930"/>
          </a:xfrm>
          <a:prstGeom prst="rect">
            <a:avLst/>
          </a:prstGeom>
          <a:noFill/>
          <a:ln/>
        </p:spPr>
        <p:txBody>
          <a:bodyPr wrap="square" lIns="0" tIns="0" rIns="0" bIns="0" rtlCol="0" anchor="t">
            <a:normAutofit/>
          </a:bodyPr>
          <a:lstStyle/>
          <a:p>
            <a:pPr marL="0" indent="0" algn="l">
              <a:lnSpc>
                <a:spcPct val="132000"/>
              </a:lnSpc>
              <a:buNone/>
            </a:pPr>
            <a:endParaRPr lang="en-US" sz="1250" dirty="0"/>
          </a:p>
        </p:txBody>
      </p:sp>
      <p:pic>
        <p:nvPicPr>
          <p:cNvPr id="22" name="Picture 21">
            <a:extLst>
              <a:ext uri="{FF2B5EF4-FFF2-40B4-BE49-F238E27FC236}">
                <a16:creationId xmlns:a16="http://schemas.microsoft.com/office/drawing/2014/main" id="{64CA996E-8A64-6089-5DBB-2C4C76DA8C47}"/>
              </a:ext>
            </a:extLst>
          </p:cNvPr>
          <p:cNvPicPr>
            <a:picLocks noChangeAspect="1"/>
          </p:cNvPicPr>
          <p:nvPr/>
        </p:nvPicPr>
        <p:blipFill>
          <a:blip r:embed="rId4"/>
          <a:stretch>
            <a:fillRect/>
          </a:stretch>
        </p:blipFill>
        <p:spPr>
          <a:xfrm>
            <a:off x="11028784" y="6491743"/>
            <a:ext cx="1163216" cy="342930"/>
          </a:xfrm>
          <a:prstGeom prst="rect">
            <a:avLst/>
          </a:prstGeom>
        </p:spPr>
      </p:pic>
      <p:pic>
        <p:nvPicPr>
          <p:cNvPr id="26" name="Picture 25">
            <a:extLst>
              <a:ext uri="{FF2B5EF4-FFF2-40B4-BE49-F238E27FC236}">
                <a16:creationId xmlns:a16="http://schemas.microsoft.com/office/drawing/2014/main" id="{388DCC90-2C92-22D0-6100-EB1CAA04E0F1}"/>
              </a:ext>
            </a:extLst>
          </p:cNvPr>
          <p:cNvPicPr>
            <a:picLocks noChangeAspect="1"/>
          </p:cNvPicPr>
          <p:nvPr/>
        </p:nvPicPr>
        <p:blipFill>
          <a:blip r:embed="rId5"/>
          <a:stretch>
            <a:fillRect/>
          </a:stretch>
        </p:blipFill>
        <p:spPr>
          <a:xfrm>
            <a:off x="6865774" y="1145738"/>
            <a:ext cx="4411147" cy="53460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634504"/>
            <a:ext cx="10868745" cy="387648"/>
          </a:xfrm>
          <a:prstGeom prst="rect">
            <a:avLst/>
          </a:prstGeom>
          <a:noFill/>
          <a:ln/>
        </p:spPr>
        <p:txBody>
          <a:bodyPr wrap="none" lIns="0" tIns="0" rIns="0" bIns="0" rtlCol="0" anchor="t"/>
          <a:lstStyle/>
          <a:p>
            <a:pPr marL="0" indent="0" algn="l">
              <a:lnSpc>
                <a:spcPct val="104000"/>
              </a:lnSpc>
              <a:buNone/>
            </a:pPr>
            <a:r>
              <a:rPr lang="en-US" sz="2400" dirty="0">
                <a:solidFill>
                  <a:srgbClr val="74767D"/>
                </a:solidFill>
                <a:latin typeface="Montserrat Medium" pitchFamily="34" charset="0"/>
                <a:ea typeface="Montserrat Medium" pitchFamily="34" charset="-122"/>
                <a:cs typeface="Montserrat Medium" pitchFamily="34" charset="-120"/>
              </a:rPr>
              <a:t>Conclusion &amp; Future Scope</a:t>
            </a:r>
            <a:endParaRPr lang="en-US" sz="2400" dirty="0"/>
          </a:p>
        </p:txBody>
      </p:sp>
      <p:sp>
        <p:nvSpPr>
          <p:cNvPr id="3" name="Text 1"/>
          <p:cNvSpPr/>
          <p:nvPr/>
        </p:nvSpPr>
        <p:spPr>
          <a:xfrm>
            <a:off x="661475" y="1451152"/>
            <a:ext cx="5283068" cy="193774"/>
          </a:xfrm>
          <a:prstGeom prst="rect">
            <a:avLst/>
          </a:prstGeom>
          <a:noFill/>
          <a:ln/>
        </p:spPr>
        <p:txBody>
          <a:bodyPr wrap="none" lIns="0" tIns="0" rIns="0" bIns="0" rtlCol="0" anchor="t"/>
          <a:lstStyle/>
          <a:p>
            <a:pPr marL="0" indent="0" algn="l">
              <a:lnSpc>
                <a:spcPct val="104000"/>
              </a:lnSpc>
              <a:buNone/>
            </a:pPr>
            <a:r>
              <a:rPr lang="en-US" sz="1200" dirty="0">
                <a:solidFill>
                  <a:srgbClr val="74767D"/>
                </a:solidFill>
                <a:latin typeface="Montserrat Medium" pitchFamily="34" charset="0"/>
                <a:ea typeface="Montserrat Medium" pitchFamily="34" charset="-122"/>
                <a:cs typeface="Montserrat Medium" pitchFamily="34" charset="-120"/>
              </a:rPr>
              <a:t>Conclusion</a:t>
            </a:r>
            <a:endParaRPr lang="en-US" sz="1200" dirty="0"/>
          </a:p>
        </p:txBody>
      </p:sp>
      <p:sp>
        <p:nvSpPr>
          <p:cNvPr id="4" name="Text 2"/>
          <p:cNvSpPr/>
          <p:nvPr/>
        </p:nvSpPr>
        <p:spPr>
          <a:xfrm>
            <a:off x="661475" y="1927235"/>
            <a:ext cx="5283068" cy="868164"/>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3D3E44"/>
                </a:solidFill>
                <a:latin typeface="Inter Light" pitchFamily="34" charset="0"/>
                <a:ea typeface="Inter Light" pitchFamily="34" charset="-122"/>
                <a:cs typeface="Inter Light" pitchFamily="34" charset="-120"/>
              </a:rPr>
              <a:t>The AI-Based Contract Clause Classification System successfully automates the identification of legal contract clauses while detecting potential contractual risks. By integrating Natural Language Processing with Machine Learning, the system significantly improves the </a:t>
            </a:r>
            <a:r>
              <a:rPr lang="en-US" sz="950" b="1" dirty="0">
                <a:solidFill>
                  <a:srgbClr val="3D3E44"/>
                </a:solidFill>
                <a:latin typeface="Inter Bold" pitchFamily="34" charset="0"/>
                <a:ea typeface="Inter Bold" pitchFamily="34" charset="-122"/>
                <a:cs typeface="Inter Bold" pitchFamily="34" charset="-120"/>
              </a:rPr>
              <a:t>efficiency, consistency, and accessibility</a:t>
            </a:r>
            <a:r>
              <a:rPr lang="en-US" sz="950" dirty="0">
                <a:solidFill>
                  <a:srgbClr val="3D3E44"/>
                </a:solidFill>
                <a:latin typeface="Inter Light" pitchFamily="34" charset="0"/>
                <a:ea typeface="Inter Light" pitchFamily="34" charset="-122"/>
                <a:cs typeface="Inter Light" pitchFamily="34" charset="-120"/>
              </a:rPr>
              <a:t> of contract analysis — demonstrating the growing potential of AI in modern legal technology.</a:t>
            </a:r>
            <a:endParaRPr lang="en-US" sz="950" dirty="0"/>
          </a:p>
        </p:txBody>
      </p:sp>
      <p:sp>
        <p:nvSpPr>
          <p:cNvPr id="7" name="Text 4"/>
          <p:cNvSpPr/>
          <p:nvPr/>
        </p:nvSpPr>
        <p:spPr>
          <a:xfrm>
            <a:off x="1064491" y="3077709"/>
            <a:ext cx="4756031" cy="347266"/>
          </a:xfrm>
          <a:prstGeom prst="rect">
            <a:avLst/>
          </a:prstGeom>
          <a:noFill/>
          <a:ln/>
        </p:spPr>
        <p:txBody>
          <a:bodyPr wrap="square" lIns="0" tIns="0" rIns="0" bIns="0" rtlCol="0" anchor="t">
            <a:normAutofit/>
          </a:bodyPr>
          <a:lstStyle/>
          <a:p>
            <a:pPr marL="0" indent="0" algn="l">
              <a:lnSpc>
                <a:spcPct val="117000"/>
              </a:lnSpc>
              <a:buNone/>
            </a:pPr>
            <a:endParaRPr lang="en-US" sz="950" dirty="0"/>
          </a:p>
        </p:txBody>
      </p:sp>
      <p:sp>
        <p:nvSpPr>
          <p:cNvPr id="8" name="Shape 5"/>
          <p:cNvSpPr/>
          <p:nvPr/>
        </p:nvSpPr>
        <p:spPr>
          <a:xfrm>
            <a:off x="6164208" y="1161653"/>
            <a:ext cx="5461657" cy="5061744"/>
          </a:xfrm>
          <a:prstGeom prst="roundRect">
            <a:avLst>
              <a:gd name="adj" fmla="val 3529"/>
            </a:avLst>
          </a:prstGeom>
          <a:solidFill>
            <a:srgbClr val="C6C9DC"/>
          </a:solidFill>
          <a:ln/>
        </p:spPr>
      </p:sp>
      <p:sp>
        <p:nvSpPr>
          <p:cNvPr id="9" name="Text 6"/>
          <p:cNvSpPr/>
          <p:nvPr/>
        </p:nvSpPr>
        <p:spPr>
          <a:xfrm>
            <a:off x="6288228" y="1254621"/>
            <a:ext cx="5213616" cy="193774"/>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Montserrat Medium" pitchFamily="34" charset="0"/>
                <a:ea typeface="Montserrat Medium" pitchFamily="34" charset="-122"/>
                <a:cs typeface="Montserrat Medium" pitchFamily="34" charset="-120"/>
              </a:rPr>
              <a:t>Future Roadmap</a:t>
            </a:r>
            <a:endParaRPr lang="en-US" sz="1200" dirty="0"/>
          </a:p>
        </p:txBody>
      </p:sp>
      <p:sp>
        <p:nvSpPr>
          <p:cNvPr id="10" name="Text 7"/>
          <p:cNvSpPr/>
          <p:nvPr/>
        </p:nvSpPr>
        <p:spPr>
          <a:xfrm>
            <a:off x="6288228" y="1552972"/>
            <a:ext cx="248041" cy="154980"/>
          </a:xfrm>
          <a:prstGeom prst="rect">
            <a:avLst/>
          </a:prstGeom>
          <a:noFill/>
          <a:ln/>
        </p:spPr>
        <p:txBody>
          <a:bodyPr wrap="none" lIns="0" tIns="0" rIns="0" bIns="0" rtlCol="0" anchor="ctr"/>
          <a:lstStyle/>
          <a:p>
            <a:pPr marL="0" indent="0" algn="l">
              <a:lnSpc>
                <a:spcPct val="100000"/>
              </a:lnSpc>
              <a:buNone/>
            </a:pPr>
            <a:r>
              <a:rPr lang="en-US" sz="950" dirty="0">
                <a:solidFill>
                  <a:srgbClr val="3D3E44"/>
                </a:solidFill>
                <a:latin typeface="Montserrat Light" pitchFamily="34" charset="0"/>
                <a:ea typeface="Montserrat Light" pitchFamily="34" charset="-122"/>
                <a:cs typeface="Montserrat Light" pitchFamily="34" charset="-120"/>
              </a:rPr>
              <a:t>01</a:t>
            </a:r>
            <a:endParaRPr lang="en-US" sz="950" dirty="0"/>
          </a:p>
        </p:txBody>
      </p:sp>
      <p:sp>
        <p:nvSpPr>
          <p:cNvPr id="11" name="Shape 8"/>
          <p:cNvSpPr/>
          <p:nvPr/>
        </p:nvSpPr>
        <p:spPr>
          <a:xfrm>
            <a:off x="6288228" y="1751013"/>
            <a:ext cx="5213616" cy="12700"/>
          </a:xfrm>
          <a:prstGeom prst="rect">
            <a:avLst/>
          </a:prstGeom>
          <a:solidFill>
            <a:srgbClr val="888888"/>
          </a:solidFill>
          <a:ln/>
        </p:spPr>
      </p:sp>
      <p:sp>
        <p:nvSpPr>
          <p:cNvPr id="12" name="Text 9"/>
          <p:cNvSpPr/>
          <p:nvPr/>
        </p:nvSpPr>
        <p:spPr>
          <a:xfrm>
            <a:off x="6288228" y="1838424"/>
            <a:ext cx="5213616" cy="193774"/>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LegalBERT / Transformer Models</a:t>
            </a:r>
            <a:endParaRPr lang="en-US" sz="1200" dirty="0"/>
          </a:p>
        </p:txBody>
      </p:sp>
      <p:sp>
        <p:nvSpPr>
          <p:cNvPr id="13" name="Text 10"/>
          <p:cNvSpPr/>
          <p:nvPr/>
        </p:nvSpPr>
        <p:spPr>
          <a:xfrm>
            <a:off x="6288228" y="2125166"/>
            <a:ext cx="5213616" cy="173633"/>
          </a:xfrm>
          <a:prstGeom prst="rect">
            <a:avLst/>
          </a:prstGeom>
          <a:noFill/>
          <a:ln/>
        </p:spPr>
        <p:txBody>
          <a:bodyPr wrap="none" lIns="0" tIns="0" rIns="0" bIns="0" rtlCol="0" anchor="t"/>
          <a:lstStyle/>
          <a:p>
            <a:pPr marL="0" indent="0" algn="l">
              <a:lnSpc>
                <a:spcPct val="117000"/>
              </a:lnSpc>
              <a:buNone/>
            </a:pPr>
            <a:r>
              <a:rPr lang="en-US" sz="950" dirty="0">
                <a:solidFill>
                  <a:srgbClr val="3D3E44"/>
                </a:solidFill>
                <a:latin typeface="Inter Light" pitchFamily="34" charset="0"/>
                <a:ea typeface="Inter Light" pitchFamily="34" charset="-122"/>
                <a:cs typeface="Inter Light" pitchFamily="34" charset="-120"/>
              </a:rPr>
              <a:t>Upgrade to domain-specific transformer architectures for higher accuracy</a:t>
            </a:r>
            <a:endParaRPr lang="en-US" sz="950" dirty="0"/>
          </a:p>
        </p:txBody>
      </p:sp>
      <p:sp>
        <p:nvSpPr>
          <p:cNvPr id="14" name="Text 11"/>
          <p:cNvSpPr/>
          <p:nvPr/>
        </p:nvSpPr>
        <p:spPr>
          <a:xfrm>
            <a:off x="6288228" y="2484735"/>
            <a:ext cx="248041" cy="154980"/>
          </a:xfrm>
          <a:prstGeom prst="rect">
            <a:avLst/>
          </a:prstGeom>
          <a:noFill/>
          <a:ln/>
        </p:spPr>
        <p:txBody>
          <a:bodyPr wrap="none" lIns="0" tIns="0" rIns="0" bIns="0" rtlCol="0" anchor="ctr"/>
          <a:lstStyle/>
          <a:p>
            <a:pPr marL="0" indent="0" algn="l">
              <a:lnSpc>
                <a:spcPct val="100000"/>
              </a:lnSpc>
              <a:buNone/>
            </a:pPr>
            <a:r>
              <a:rPr lang="en-US" sz="950" dirty="0">
                <a:solidFill>
                  <a:srgbClr val="3D3E44"/>
                </a:solidFill>
                <a:latin typeface="Montserrat Light" pitchFamily="34" charset="0"/>
                <a:ea typeface="Montserrat Light" pitchFamily="34" charset="-122"/>
                <a:cs typeface="Montserrat Light" pitchFamily="34" charset="-120"/>
              </a:rPr>
              <a:t>02</a:t>
            </a:r>
            <a:endParaRPr lang="en-US" sz="950" dirty="0"/>
          </a:p>
        </p:txBody>
      </p:sp>
      <p:sp>
        <p:nvSpPr>
          <p:cNvPr id="15" name="Shape 12"/>
          <p:cNvSpPr/>
          <p:nvPr/>
        </p:nvSpPr>
        <p:spPr>
          <a:xfrm>
            <a:off x="6288228" y="2670373"/>
            <a:ext cx="5213616" cy="12700"/>
          </a:xfrm>
          <a:prstGeom prst="rect">
            <a:avLst/>
          </a:prstGeom>
          <a:solidFill>
            <a:srgbClr val="888888"/>
          </a:solidFill>
          <a:ln/>
        </p:spPr>
      </p:sp>
      <p:sp>
        <p:nvSpPr>
          <p:cNvPr id="16" name="Text 13"/>
          <p:cNvSpPr/>
          <p:nvPr/>
        </p:nvSpPr>
        <p:spPr>
          <a:xfrm>
            <a:off x="6288228" y="2770188"/>
            <a:ext cx="5213616" cy="193774"/>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Full PDF Contract Analysis</a:t>
            </a:r>
            <a:endParaRPr lang="en-US" sz="1200" dirty="0"/>
          </a:p>
        </p:txBody>
      </p:sp>
      <p:sp>
        <p:nvSpPr>
          <p:cNvPr id="17" name="Text 14"/>
          <p:cNvSpPr/>
          <p:nvPr/>
        </p:nvSpPr>
        <p:spPr>
          <a:xfrm>
            <a:off x="6288228" y="3056930"/>
            <a:ext cx="5213616" cy="173633"/>
          </a:xfrm>
          <a:prstGeom prst="rect">
            <a:avLst/>
          </a:prstGeom>
          <a:noFill/>
          <a:ln/>
        </p:spPr>
        <p:txBody>
          <a:bodyPr wrap="none" lIns="0" tIns="0" rIns="0" bIns="0" rtlCol="0" anchor="t"/>
          <a:lstStyle/>
          <a:p>
            <a:pPr marL="0" indent="0" algn="l">
              <a:lnSpc>
                <a:spcPct val="117000"/>
              </a:lnSpc>
              <a:buNone/>
            </a:pPr>
            <a:r>
              <a:rPr lang="en-US" sz="950" dirty="0">
                <a:solidFill>
                  <a:srgbClr val="3D3E44"/>
                </a:solidFill>
                <a:latin typeface="Inter Light" pitchFamily="34" charset="0"/>
                <a:ea typeface="Inter Light" pitchFamily="34" charset="-122"/>
                <a:cs typeface="Inter Light" pitchFamily="34" charset="-120"/>
              </a:rPr>
              <a:t>Extend from clause-level to full-document processing</a:t>
            </a:r>
            <a:endParaRPr lang="en-US" sz="950" dirty="0"/>
          </a:p>
        </p:txBody>
      </p:sp>
      <p:sp>
        <p:nvSpPr>
          <p:cNvPr id="18" name="Text 15"/>
          <p:cNvSpPr/>
          <p:nvPr/>
        </p:nvSpPr>
        <p:spPr>
          <a:xfrm>
            <a:off x="6288228" y="3416498"/>
            <a:ext cx="248041" cy="154980"/>
          </a:xfrm>
          <a:prstGeom prst="rect">
            <a:avLst/>
          </a:prstGeom>
          <a:noFill/>
          <a:ln/>
        </p:spPr>
        <p:txBody>
          <a:bodyPr wrap="none" lIns="0" tIns="0" rIns="0" bIns="0" rtlCol="0" anchor="ctr"/>
          <a:lstStyle/>
          <a:p>
            <a:pPr marL="0" indent="0" algn="l">
              <a:lnSpc>
                <a:spcPct val="100000"/>
              </a:lnSpc>
              <a:buNone/>
            </a:pPr>
            <a:r>
              <a:rPr lang="en-US" sz="950" dirty="0">
                <a:solidFill>
                  <a:srgbClr val="3D3E44"/>
                </a:solidFill>
                <a:latin typeface="Montserrat Light" pitchFamily="34" charset="0"/>
                <a:ea typeface="Montserrat Light" pitchFamily="34" charset="-122"/>
                <a:cs typeface="Montserrat Light" pitchFamily="34" charset="-120"/>
              </a:rPr>
              <a:t>03</a:t>
            </a:r>
            <a:endParaRPr lang="en-US" sz="950" dirty="0"/>
          </a:p>
        </p:txBody>
      </p:sp>
      <p:sp>
        <p:nvSpPr>
          <p:cNvPr id="19" name="Shape 16"/>
          <p:cNvSpPr/>
          <p:nvPr/>
        </p:nvSpPr>
        <p:spPr>
          <a:xfrm>
            <a:off x="6288228" y="3589734"/>
            <a:ext cx="5213616" cy="12700"/>
          </a:xfrm>
          <a:prstGeom prst="rect">
            <a:avLst/>
          </a:prstGeom>
          <a:solidFill>
            <a:srgbClr val="888888"/>
          </a:solidFill>
          <a:ln/>
        </p:spPr>
      </p:sp>
      <p:sp>
        <p:nvSpPr>
          <p:cNvPr id="20" name="Text 17"/>
          <p:cNvSpPr/>
          <p:nvPr/>
        </p:nvSpPr>
        <p:spPr>
          <a:xfrm>
            <a:off x="6288228" y="3701951"/>
            <a:ext cx="5213616" cy="193774"/>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OCR Integration</a:t>
            </a:r>
            <a:endParaRPr lang="en-US" sz="1200" dirty="0"/>
          </a:p>
        </p:txBody>
      </p:sp>
      <p:sp>
        <p:nvSpPr>
          <p:cNvPr id="21" name="Text 18"/>
          <p:cNvSpPr/>
          <p:nvPr/>
        </p:nvSpPr>
        <p:spPr>
          <a:xfrm>
            <a:off x="6288228" y="3988693"/>
            <a:ext cx="5213616" cy="173633"/>
          </a:xfrm>
          <a:prstGeom prst="rect">
            <a:avLst/>
          </a:prstGeom>
          <a:noFill/>
          <a:ln/>
        </p:spPr>
        <p:txBody>
          <a:bodyPr wrap="none" lIns="0" tIns="0" rIns="0" bIns="0" rtlCol="0" anchor="t"/>
          <a:lstStyle/>
          <a:p>
            <a:pPr marL="0" indent="0" algn="l">
              <a:lnSpc>
                <a:spcPct val="117000"/>
              </a:lnSpc>
              <a:buNone/>
            </a:pPr>
            <a:r>
              <a:rPr lang="en-US" sz="950" dirty="0">
                <a:solidFill>
                  <a:srgbClr val="3D3E44"/>
                </a:solidFill>
                <a:latin typeface="Inter Light" pitchFamily="34" charset="0"/>
                <a:ea typeface="Inter Light" pitchFamily="34" charset="-122"/>
                <a:cs typeface="Inter Light" pitchFamily="34" charset="-120"/>
              </a:rPr>
              <a:t>Support scanned contracts and legacy document formats</a:t>
            </a:r>
            <a:endParaRPr lang="en-US" sz="950" dirty="0"/>
          </a:p>
        </p:txBody>
      </p:sp>
      <p:sp>
        <p:nvSpPr>
          <p:cNvPr id="22" name="Text 19"/>
          <p:cNvSpPr/>
          <p:nvPr/>
        </p:nvSpPr>
        <p:spPr>
          <a:xfrm>
            <a:off x="6288228" y="4348262"/>
            <a:ext cx="248041" cy="154980"/>
          </a:xfrm>
          <a:prstGeom prst="rect">
            <a:avLst/>
          </a:prstGeom>
          <a:noFill/>
          <a:ln/>
        </p:spPr>
        <p:txBody>
          <a:bodyPr wrap="none" lIns="0" tIns="0" rIns="0" bIns="0" rtlCol="0" anchor="ctr"/>
          <a:lstStyle/>
          <a:p>
            <a:pPr marL="0" indent="0" algn="l">
              <a:lnSpc>
                <a:spcPct val="100000"/>
              </a:lnSpc>
              <a:buNone/>
            </a:pPr>
            <a:r>
              <a:rPr lang="en-US" sz="950" dirty="0">
                <a:solidFill>
                  <a:srgbClr val="3D3E44"/>
                </a:solidFill>
                <a:latin typeface="Montserrat Light" pitchFamily="34" charset="0"/>
                <a:ea typeface="Montserrat Light" pitchFamily="34" charset="-122"/>
                <a:cs typeface="Montserrat Light" pitchFamily="34" charset="-120"/>
              </a:rPr>
              <a:t>04</a:t>
            </a:r>
            <a:endParaRPr lang="en-US" sz="950" dirty="0"/>
          </a:p>
        </p:txBody>
      </p:sp>
      <p:sp>
        <p:nvSpPr>
          <p:cNvPr id="23" name="Shape 20"/>
          <p:cNvSpPr/>
          <p:nvPr/>
        </p:nvSpPr>
        <p:spPr>
          <a:xfrm>
            <a:off x="6288228" y="4509095"/>
            <a:ext cx="5213616" cy="12700"/>
          </a:xfrm>
          <a:prstGeom prst="rect">
            <a:avLst/>
          </a:prstGeom>
          <a:solidFill>
            <a:srgbClr val="888888"/>
          </a:solidFill>
          <a:ln/>
        </p:spPr>
      </p:sp>
      <p:sp>
        <p:nvSpPr>
          <p:cNvPr id="24" name="Text 21"/>
          <p:cNvSpPr/>
          <p:nvPr/>
        </p:nvSpPr>
        <p:spPr>
          <a:xfrm>
            <a:off x="6288228" y="4633714"/>
            <a:ext cx="5213616" cy="193774"/>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AI Legal Chatbot</a:t>
            </a:r>
            <a:endParaRPr lang="en-US" sz="1200" dirty="0"/>
          </a:p>
        </p:txBody>
      </p:sp>
      <p:sp>
        <p:nvSpPr>
          <p:cNvPr id="25" name="Text 22"/>
          <p:cNvSpPr/>
          <p:nvPr/>
        </p:nvSpPr>
        <p:spPr>
          <a:xfrm>
            <a:off x="6288228" y="4920456"/>
            <a:ext cx="5213616" cy="173633"/>
          </a:xfrm>
          <a:prstGeom prst="rect">
            <a:avLst/>
          </a:prstGeom>
          <a:noFill/>
          <a:ln/>
        </p:spPr>
        <p:txBody>
          <a:bodyPr wrap="none" lIns="0" tIns="0" rIns="0" bIns="0" rtlCol="0" anchor="t"/>
          <a:lstStyle/>
          <a:p>
            <a:pPr marL="0" indent="0" algn="l">
              <a:lnSpc>
                <a:spcPct val="117000"/>
              </a:lnSpc>
              <a:buNone/>
            </a:pPr>
            <a:r>
              <a:rPr lang="en-US" sz="950" dirty="0">
                <a:solidFill>
                  <a:srgbClr val="3D3E44"/>
                </a:solidFill>
                <a:latin typeface="Inter Light" pitchFamily="34" charset="0"/>
                <a:ea typeface="Inter Light" pitchFamily="34" charset="-122"/>
                <a:cs typeface="Inter Light" pitchFamily="34" charset="-120"/>
              </a:rPr>
              <a:t>Interactive assistant for querying contract terms conversationally</a:t>
            </a:r>
            <a:endParaRPr lang="en-US" sz="950" dirty="0"/>
          </a:p>
        </p:txBody>
      </p:sp>
      <p:sp>
        <p:nvSpPr>
          <p:cNvPr id="26" name="Text 23"/>
          <p:cNvSpPr/>
          <p:nvPr/>
        </p:nvSpPr>
        <p:spPr>
          <a:xfrm>
            <a:off x="6288228" y="5280025"/>
            <a:ext cx="248041" cy="154980"/>
          </a:xfrm>
          <a:prstGeom prst="rect">
            <a:avLst/>
          </a:prstGeom>
          <a:noFill/>
          <a:ln/>
        </p:spPr>
        <p:txBody>
          <a:bodyPr wrap="none" lIns="0" tIns="0" rIns="0" bIns="0" rtlCol="0" anchor="ctr"/>
          <a:lstStyle/>
          <a:p>
            <a:pPr marL="0" indent="0" algn="l">
              <a:lnSpc>
                <a:spcPct val="100000"/>
              </a:lnSpc>
              <a:buNone/>
            </a:pPr>
            <a:r>
              <a:rPr lang="en-US" sz="950" dirty="0">
                <a:solidFill>
                  <a:srgbClr val="3D3E44"/>
                </a:solidFill>
                <a:latin typeface="Montserrat Light" pitchFamily="34" charset="0"/>
                <a:ea typeface="Montserrat Light" pitchFamily="34" charset="-122"/>
                <a:cs typeface="Montserrat Light" pitchFamily="34" charset="-120"/>
              </a:rPr>
              <a:t>05</a:t>
            </a:r>
            <a:endParaRPr lang="en-US" sz="950" dirty="0"/>
          </a:p>
        </p:txBody>
      </p:sp>
      <p:sp>
        <p:nvSpPr>
          <p:cNvPr id="27" name="Shape 24"/>
          <p:cNvSpPr/>
          <p:nvPr/>
        </p:nvSpPr>
        <p:spPr>
          <a:xfrm>
            <a:off x="6288228" y="5428456"/>
            <a:ext cx="5213616" cy="12700"/>
          </a:xfrm>
          <a:prstGeom prst="rect">
            <a:avLst/>
          </a:prstGeom>
          <a:solidFill>
            <a:srgbClr val="888888"/>
          </a:solidFill>
          <a:ln/>
        </p:spPr>
      </p:sp>
      <p:sp>
        <p:nvSpPr>
          <p:cNvPr id="28" name="Text 25"/>
          <p:cNvSpPr/>
          <p:nvPr/>
        </p:nvSpPr>
        <p:spPr>
          <a:xfrm>
            <a:off x="6288228" y="5565477"/>
            <a:ext cx="5213616" cy="193774"/>
          </a:xfrm>
          <a:prstGeom prst="rect">
            <a:avLst/>
          </a:prstGeom>
          <a:noFill/>
          <a:ln/>
        </p:spPr>
        <p:txBody>
          <a:bodyPr wrap="none" lIns="0" tIns="0" rIns="0" bIns="0" rtlCol="0" anchor="t"/>
          <a:lstStyle/>
          <a:p>
            <a:pPr marL="0" indent="0" algn="l">
              <a:lnSpc>
                <a:spcPct val="104000"/>
              </a:lnSpc>
              <a:buNone/>
            </a:pPr>
            <a:r>
              <a:rPr lang="en-US" sz="1200" dirty="0">
                <a:solidFill>
                  <a:srgbClr val="3D3E44"/>
                </a:solidFill>
                <a:latin typeface="Montserrat Medium" pitchFamily="34" charset="0"/>
                <a:ea typeface="Montserrat Medium" pitchFamily="34" charset="-122"/>
                <a:cs typeface="Montserrat Medium" pitchFamily="34" charset="-120"/>
              </a:rPr>
              <a:t>Web-Based Analyzer &amp; Cloud Deployment</a:t>
            </a:r>
            <a:endParaRPr lang="en-US" sz="1200" dirty="0"/>
          </a:p>
        </p:txBody>
      </p:sp>
      <p:sp>
        <p:nvSpPr>
          <p:cNvPr id="29" name="Text 26"/>
          <p:cNvSpPr/>
          <p:nvPr/>
        </p:nvSpPr>
        <p:spPr>
          <a:xfrm>
            <a:off x="6288228" y="5852220"/>
            <a:ext cx="5213616" cy="173633"/>
          </a:xfrm>
          <a:prstGeom prst="rect">
            <a:avLst/>
          </a:prstGeom>
          <a:noFill/>
          <a:ln/>
        </p:spPr>
        <p:txBody>
          <a:bodyPr wrap="none" lIns="0" tIns="0" rIns="0" bIns="0" rtlCol="0" anchor="t"/>
          <a:lstStyle/>
          <a:p>
            <a:pPr marL="0" indent="0" algn="l">
              <a:lnSpc>
                <a:spcPct val="117000"/>
              </a:lnSpc>
              <a:buNone/>
            </a:pPr>
            <a:r>
              <a:rPr lang="en-US" sz="950" dirty="0">
                <a:solidFill>
                  <a:srgbClr val="3D3E44"/>
                </a:solidFill>
                <a:latin typeface="Inter Light" pitchFamily="34" charset="0"/>
                <a:ea typeface="Inter Light" pitchFamily="34" charset="-122"/>
                <a:cs typeface="Inter Light" pitchFamily="34" charset="-120"/>
              </a:rPr>
              <a:t>Scalable SaaS platform for enterprise legal teams</a:t>
            </a:r>
            <a:endParaRPr lang="en-US" sz="950" dirty="0"/>
          </a:p>
        </p:txBody>
      </p:sp>
      <p:pic>
        <p:nvPicPr>
          <p:cNvPr id="31" name="Picture 30">
            <a:extLst>
              <a:ext uri="{FF2B5EF4-FFF2-40B4-BE49-F238E27FC236}">
                <a16:creationId xmlns:a16="http://schemas.microsoft.com/office/drawing/2014/main" id="{B20F0AA3-32B5-AD65-85A1-C9700E5068C8}"/>
              </a:ext>
            </a:extLst>
          </p:cNvPr>
          <p:cNvPicPr>
            <a:picLocks noChangeAspect="1"/>
          </p:cNvPicPr>
          <p:nvPr/>
        </p:nvPicPr>
        <p:blipFill>
          <a:blip r:embed="rId3"/>
          <a:stretch>
            <a:fillRect/>
          </a:stretch>
        </p:blipFill>
        <p:spPr>
          <a:xfrm>
            <a:off x="11028784" y="6491743"/>
            <a:ext cx="1163216" cy="342930"/>
          </a:xfrm>
          <a:prstGeom prst="rect">
            <a:avLst/>
          </a:prstGeom>
        </p:spPr>
      </p:pic>
      <p:sp>
        <p:nvSpPr>
          <p:cNvPr id="33" name="Text 0">
            <a:extLst>
              <a:ext uri="{FF2B5EF4-FFF2-40B4-BE49-F238E27FC236}">
                <a16:creationId xmlns:a16="http://schemas.microsoft.com/office/drawing/2014/main" id="{E83A58C0-0AA1-5646-AF03-D46DBADBE035}"/>
              </a:ext>
            </a:extLst>
          </p:cNvPr>
          <p:cNvSpPr/>
          <p:nvPr/>
        </p:nvSpPr>
        <p:spPr>
          <a:xfrm>
            <a:off x="2083813" y="5939036"/>
            <a:ext cx="2030013" cy="387648"/>
          </a:xfrm>
          <a:prstGeom prst="rect">
            <a:avLst/>
          </a:prstGeom>
          <a:noFill/>
          <a:ln/>
        </p:spPr>
        <p:txBody>
          <a:bodyPr wrap="none" lIns="0" tIns="0" rIns="0" bIns="0" rtlCol="0" anchor="t"/>
          <a:lstStyle/>
          <a:p>
            <a:pPr marL="0" indent="0" algn="l">
              <a:lnSpc>
                <a:spcPct val="104000"/>
              </a:lnSpc>
              <a:buNone/>
            </a:pPr>
            <a:r>
              <a:rPr lang="en-US" sz="2400" dirty="0">
                <a:solidFill>
                  <a:srgbClr val="74767D"/>
                </a:solidFill>
                <a:latin typeface="Montserrat Medium" pitchFamily="34" charset="0"/>
              </a:rPr>
              <a:t>Thank You !!</a:t>
            </a:r>
            <a:endParaRPr lang="en-US" sz="2400" dirty="0"/>
          </a:p>
        </p:txBody>
      </p:sp>
      <p:pic>
        <p:nvPicPr>
          <p:cNvPr id="37" name="Picture 36">
            <a:extLst>
              <a:ext uri="{FF2B5EF4-FFF2-40B4-BE49-F238E27FC236}">
                <a16:creationId xmlns:a16="http://schemas.microsoft.com/office/drawing/2014/main" id="{6EC43CAF-4080-E3C6-48FC-80925EADAD1A}"/>
              </a:ext>
            </a:extLst>
          </p:cNvPr>
          <p:cNvPicPr>
            <a:picLocks noChangeAspect="1"/>
          </p:cNvPicPr>
          <p:nvPr/>
        </p:nvPicPr>
        <p:blipFill>
          <a:blip r:embed="rId4"/>
          <a:stretch>
            <a:fillRect/>
          </a:stretch>
        </p:blipFill>
        <p:spPr>
          <a:xfrm>
            <a:off x="720805" y="3056930"/>
            <a:ext cx="4756031" cy="1274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1053</Words>
  <Application>Microsoft Office PowerPoint</Application>
  <PresentationFormat>Widescreen</PresentationFormat>
  <Paragraphs>124</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Montserrat Light</vt:lpstr>
      <vt:lpstr>Inter Bold</vt:lpstr>
      <vt:lpstr>Montserrat Medium</vt:lpstr>
      <vt:lpstr>Arial</vt:lpstr>
      <vt:lpstr>Inter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Dell</dc:creator>
  <cp:lastModifiedBy>Deviyansh Rajpurohit</cp:lastModifiedBy>
  <cp:revision>4</cp:revision>
  <dcterms:created xsi:type="dcterms:W3CDTF">2026-08-03T16:11:42Z</dcterms:created>
  <dcterms:modified xsi:type="dcterms:W3CDTF">2026-08-03T16:57:40Z</dcterms:modified>
</cp:coreProperties>
</file>